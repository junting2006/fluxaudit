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开场：Web3 审计的难点不只是判断风险，更是让人相信判断是如何产生的。</a:t>
            </a:r>
          </a:p>
          <a:p>
            <a:r>
              <a:t>FluxAudit 的答案，是把 AI 过程公开成一条任何人都能重算的证据链。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这一页只讲一个矛盾：AI 降低了生成成本，却可能提高信任成本。</a:t>
            </a:r>
          </a:p>
          <a:p>
            <a:r>
              <a:t>评委需要看到的不只是答案，还要看到答案如何形成、有没有被篡改。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FluxAudit 不是给模型再加一层 UI，而是重构整个审计输出契约。</a:t>
            </a:r>
          </a:p>
          <a:p>
            <a:r>
              <a:t>从输入、分析到报告，每一步都有公开输出与可重算证明。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演示控制在两分钟内：创建、执行、报告、验伪。</a:t>
            </a:r>
          </a:p>
          <a:p>
            <a:r>
              <a:t>四个界面使用同一个任务状态，不会让旧任务结果串到新任务。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关键是把生成式能力和确定性规则分开。</a:t>
            </a:r>
          </a:p>
          <a:p>
            <a:r>
              <a:t>模型负责提取，链上硬指标的交叉校验与评分不依赖模型临场发挥。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每一步是可公开重算的证明，不展示隐藏思维链。</a:t>
            </a:r>
          </a:p>
          <a:p>
            <a:r>
              <a:t>本地完整性通过与链上存证是两个状态，界面明确区分。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这一页配合产品演示讲：不是动画模拟，而是 SSE 事件驱动的七阶段状态。</a:t>
            </a:r>
          </a:p>
          <a:p>
            <a:r>
              <a:t>重点放在哈希交接，向评委证明报告不是最后临时拼出来的。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用双样例证明系统具有判别力。</a:t>
            </a:r>
          </a:p>
          <a:p>
            <a:r>
              <a:t>NovaPay 检出高风险矛盾；AtlasIndex 只保留一个低优先级问题。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绿色状态由成员 5 SDK 的四项布尔结果共同决定。</a:t>
            </a:r>
          </a:p>
          <a:p>
            <a:r>
              <a:t>篡改、旧协议、缺少 manifest、短链绕过都会被拒绝。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这不是五份孤立作业，而是一个统一数据与证明契约。</a:t>
            </a:r>
          </a:p>
          <a:p>
            <a:r>
              <a:t>每位成员的交付都在实际产品路径上可见。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测试数字来自仓库最新汇总：68 + 93 + 30 + 95 = 286。</a:t>
            </a:r>
          </a:p>
          <a:p>
            <a:r>
              <a:t>除了 happy path，还覆盖篡改、旧协议、缺失清单和短链绕过。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主动讲清边界会增加可信度，而不是削弱项目。</a:t>
            </a:r>
          </a:p>
          <a:p>
            <a:r>
              <a:t>当前证明链能证明报告内部一致和未被篡改；链上可信记录需等真实部署配置后启用。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当前版本已经适合比赛演示；路线图聚焦可信部署、来源绑定和多链扩展。</a:t>
            </a:r>
          </a:p>
          <a:p>
            <a:r>
              <a:t>核心资产不是某一个模型，而是可复用的证明协议和产品状态机。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收束：我们希望建立一种新的 AI 审计默认值——结论可以快，但证据必须留下。</a:t>
            </a:r>
          </a:p>
          <a:p>
            <a:r>
              <a:t>随后直接进入两分钟产品演示或答疑。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-1"/>
          <p:cNvSpPr>
            <a:spLocks noGrp="1"/>
          </p:cNvSpPr>
          <p:nvPr/>
        </p:nvSpPr>
        <p:spPr>
          <a:xfrm>
            <a:off x="0" y="0"/>
            <a:ext cx="552450" cy="6858000"/>
          </a:xfrm>
          <a:prstGeom prst="rect">
            <a:avLst/>
          </a:prstGeom>
          <a:solidFill>
            <a:srgbClr val="6E3FC8"/>
          </a:solidFill>
          <a:ln w="0">
            <a:solidFill>
              <a:srgbClr val="6E3FC8"/>
            </a:solidFill>
            <a:prstDash val="solid"/>
          </a:ln>
        </p:spPr>
      </p:sp>
      <p:sp>
        <p:nvSpPr>
          <p:cNvPr id="3" name="rect-2"/>
          <p:cNvSpPr>
            <a:spLocks noGrp="1"/>
          </p:cNvSpPr>
          <p:nvPr/>
        </p:nvSpPr>
        <p:spPr>
          <a:xfrm>
            <a:off x="552450" y="0"/>
            <a:ext cx="5715000" cy="6858000"/>
          </a:xfrm>
          <a:prstGeom prst="rect">
            <a:avLst/>
          </a:prstGeom>
          <a:solidFill>
            <a:srgbClr val="070A0C"/>
          </a:solidFill>
          <a:ln w="0">
            <a:solidFill>
              <a:srgbClr val="070A0C"/>
            </a:solidFill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 l="20650" r="20650"/>
          <a:stretch>
            <a:fillRect/>
          </a:stretch>
        </p:blipFill>
        <p:spPr>
          <a:xfrm>
            <a:off x="6429375" y="400050"/>
            <a:ext cx="5334000" cy="6057900"/>
          </a:xfrm>
          <a:prstGeom prst="roundRect">
            <a:avLst>
              <a:gd name="adj" fmla="val 2143"/>
            </a:avLst>
          </a:prstGeom>
        </p:spPr>
      </p:pic>
      <p:sp>
        <p:nvSpPr>
          <p:cNvPr id="4" name="rect-3"/>
          <p:cNvSpPr>
            <a:spLocks noGrp="1"/>
          </p:cNvSpPr>
          <p:nvPr/>
        </p:nvSpPr>
        <p:spPr>
          <a:xfrm>
            <a:off x="6429375" y="400050"/>
            <a:ext cx="5334000" cy="6057900"/>
          </a:xfrm>
          <a:prstGeom prst="roundRect">
            <a:avLst>
              <a:gd name="adj" fmla="val 2143"/>
            </a:avLst>
          </a:prstGeom>
          <a:noFill/>
          <a:ln w="19050">
            <a:solidFill>
              <a:srgbClr val="263036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552450"/>
            <a:ext cx="2114550" cy="571500"/>
          </a:xfrm>
          <a:prstGeom prst="rect">
            <a:avLst/>
          </a:prstGeom>
        </p:spPr>
      </p:pic>
      <p:sp>
        <p:nvSpPr>
          <p:cNvPr id="6" name="rect-4"/>
          <p:cNvSpPr>
            <a:spLocks noGrp="1"/>
          </p:cNvSpPr>
          <p:nvPr/>
        </p:nvSpPr>
        <p:spPr>
          <a:xfrm>
            <a:off x="990600" y="1466850"/>
            <a:ext cx="1809750" cy="266700"/>
          </a:xfrm>
          <a:prstGeom prst="roundRect">
            <a:avLst>
              <a:gd name="adj" fmla="val 50000"/>
            </a:avLst>
          </a:prstGeom>
          <a:solidFill>
            <a:srgbClr val="131A1F"/>
          </a:solidFill>
          <a:ln w="9525">
            <a:solidFill>
              <a:srgbClr val="263036"/>
            </a:solidFill>
            <a:prstDash val="solid"/>
          </a:ln>
        </p:spPr>
        <p:txBody>
          <a:bodyPr lIns="76200" tIns="19050" rIns="76200" bIns="19050" anchor="ctr">
            <a:normAutofit fontScale="99171"/>
          </a:bodyPr>
          <a:lstStyle/>
          <a:p>
            <a:pPr algn="ctr">
              <a:defRPr sz="9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PROJECT COMPETITION</a:t>
            </a:r>
            <a:endParaRPr sz="900" b="1">
              <a:solidFill>
                <a:srgbClr val="A87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-5"/>
          <p:cNvSpPr>
            <a:spLocks noGrp="1"/>
          </p:cNvSpPr>
          <p:nvPr/>
        </p:nvSpPr>
        <p:spPr>
          <a:xfrm>
            <a:off x="990600" y="2000250"/>
            <a:ext cx="4953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42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2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 AI 审计结论</a:t>
            </a:r>
            <a:endParaRPr sz="4200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96000"/>
              </a:lnSpc>
              <a:buNone/>
              <a:defRPr sz="42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2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拥有可验证证据链</a:t>
            </a:r>
            <a:endParaRPr sz="4200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-6"/>
          <p:cNvSpPr>
            <a:spLocks noGrp="1"/>
          </p:cNvSpPr>
          <p:nvPr/>
        </p:nvSpPr>
        <p:spPr>
          <a:xfrm>
            <a:off x="1009650" y="3924300"/>
            <a:ext cx="4762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177"/>
          </a:bodyPr>
          <a:lstStyle/>
          <a:p>
            <a:pPr algn="l">
              <a:lnSpc>
                <a:spcPct val="142000"/>
              </a:lnSpc>
              <a:buNone/>
              <a:defRPr sz="15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FluxAudit 将白皮书声明与链上事实交叉核验，输出结构化风险报告，并为每个公开步骤生成可重算的 Ethereum Keccak-256 证明。</a:t>
            </a:r>
            <a:endParaRPr sz="1500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line-7"/>
          <p:cNvSpPr>
            <a:spLocks noGrp="1"/>
          </p:cNvSpPr>
          <p:nvPr/>
        </p:nvSpPr>
        <p:spPr>
          <a:xfrm>
            <a:off x="1009650" y="5429250"/>
            <a:ext cx="478155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10" name="text-8"/>
          <p:cNvSpPr>
            <a:spLocks noGrp="1"/>
          </p:cNvSpPr>
          <p:nvPr/>
        </p:nvSpPr>
        <p:spPr>
          <a:xfrm>
            <a:off x="1009650" y="5638800"/>
            <a:ext cx="468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39D7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9D7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× Web3 · 可解释风险审计 · 可验证报告</a:t>
            </a:r>
            <a:endParaRPr sz="1200" b="1">
              <a:solidFill>
                <a:srgbClr val="39D7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-9"/>
          <p:cNvSpPr>
            <a:spLocks noGrp="1"/>
          </p:cNvSpPr>
          <p:nvPr/>
        </p:nvSpPr>
        <p:spPr>
          <a:xfrm>
            <a:off x="1009650" y="6153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77807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77807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FLUXAUDIT / 流审</a:t>
            </a:r>
            <a:endParaRPr sz="900" b="1">
              <a:solidFill>
                <a:srgbClr val="77807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10"/>
          <p:cNvSpPr>
            <a:spLocks noGrp="1"/>
          </p:cNvSpPr>
          <p:nvPr/>
        </p:nvSpPr>
        <p:spPr>
          <a:xfrm>
            <a:off x="495300" y="381000"/>
            <a:ext cx="590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THE GAP</a:t>
            </a:r>
            <a:endParaRPr sz="90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11"/>
          <p:cNvSpPr>
            <a:spLocks noGrp="1"/>
          </p:cNvSpPr>
          <p:nvPr/>
        </p:nvSpPr>
        <p:spPr>
          <a:xfrm>
            <a:off x="495300" y="60960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0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行业真正缺的，不是更多结论</a:t>
            </a:r>
            <a:endParaRPr sz="300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line-12"/>
          <p:cNvSpPr>
            <a:spLocks noGrp="1"/>
          </p:cNvSpPr>
          <p:nvPr/>
        </p:nvSpPr>
        <p:spPr>
          <a:xfrm>
            <a:off x="495300" y="1257300"/>
            <a:ext cx="1120140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5" name="text-13"/>
          <p:cNvSpPr>
            <a:spLocks noGrp="1"/>
          </p:cNvSpPr>
          <p:nvPr/>
        </p:nvSpPr>
        <p:spPr>
          <a:xfrm>
            <a:off x="495300" y="65151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777A7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777A7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FLUXAUDIT · AI × WEB3</a:t>
            </a:r>
            <a:endParaRPr sz="825" b="1">
              <a:solidFill>
                <a:srgbClr val="777A7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-14"/>
          <p:cNvSpPr>
            <a:spLocks noGrp="1"/>
          </p:cNvSpPr>
          <p:nvPr/>
        </p:nvSpPr>
        <p:spPr>
          <a:xfrm>
            <a:off x="113728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777A74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777A74"/>
                </a:solidFill>
                <a:latin typeface="Azeret Mono"/>
                <a:ea typeface="Azeret Mono"/>
                <a:cs typeface="Azeret Mono"/>
              </a:rPr>
              <a:t>02</a:t>
            </a:r>
            <a:endParaRPr sz="900" b="1">
              <a:solidFill>
                <a:srgbClr val="777A74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7" name="text-15"/>
          <p:cNvSpPr>
            <a:spLocks noGrp="1"/>
          </p:cNvSpPr>
          <p:nvPr/>
        </p:nvSpPr>
        <p:spPr>
          <a:xfrm>
            <a:off x="495300" y="1466850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而是能被追问、复核和验伪的结论。</a:t>
            </a:r>
            <a:endParaRPr sz="1950" b="1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-16"/>
          <p:cNvSpPr>
            <a:spLocks noGrp="1"/>
          </p:cNvSpPr>
          <p:nvPr/>
        </p:nvSpPr>
        <p:spPr>
          <a:xfrm>
            <a:off x="495300" y="2343150"/>
            <a:ext cx="98996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900" b="1">
                <a:solidFill>
                  <a:srgbClr val="F2BC4D"/>
                </a:solidFill>
                <a:latin typeface="Azeret Mono"/>
                <a:ea typeface="Azeret Mono"/>
                <a:cs typeface="Azeret Mono"/>
              </a:defRPr>
            </a:pPr>
            <a:r>
              <a:rPr sz="3900" b="1">
                <a:solidFill>
                  <a:srgbClr val="F2BC4D"/>
                </a:solidFill>
                <a:latin typeface="Azeret Mono"/>
                <a:ea typeface="Azeret Mono"/>
                <a:cs typeface="Azeret Mono"/>
              </a:rPr>
              <a:t>01</a:t>
            </a:r>
            <a:endParaRPr sz="3900" b="1">
              <a:solidFill>
                <a:srgbClr val="F2BC4D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9" name="text-17"/>
          <p:cNvSpPr>
            <a:spLocks noGrp="1"/>
          </p:cNvSpPr>
          <p:nvPr/>
        </p:nvSpPr>
        <p:spPr>
          <a:xfrm>
            <a:off x="495300" y="31242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尽调很慢</a:t>
            </a:r>
            <a:endParaRPr sz="195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line-18"/>
          <p:cNvSpPr>
            <a:spLocks noGrp="1"/>
          </p:cNvSpPr>
          <p:nvPr/>
        </p:nvSpPr>
        <p:spPr>
          <a:xfrm>
            <a:off x="495300" y="3638550"/>
            <a:ext cx="314325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11" name="text-19"/>
          <p:cNvSpPr>
            <a:spLocks noGrp="1"/>
          </p:cNvSpPr>
          <p:nvPr/>
        </p:nvSpPr>
        <p:spPr>
          <a:xfrm>
            <a:off x="495300" y="3886200"/>
            <a:ext cx="3143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42000"/>
              </a:lnSpc>
              <a:buNone/>
              <a:defRPr sz="13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人工在长篇白皮书、合约权限、持币分布与资金流之间反复切换</a:t>
            </a:r>
            <a:endParaRPr sz="135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-20"/>
          <p:cNvSpPr>
            <a:spLocks noGrp="1"/>
          </p:cNvSpPr>
          <p:nvPr/>
        </p:nvSpPr>
        <p:spPr>
          <a:xfrm>
            <a:off x="4257675" y="2343150"/>
            <a:ext cx="8032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900" b="1">
                <a:solidFill>
                  <a:srgbClr val="6E3FC8"/>
                </a:solidFill>
                <a:latin typeface="Azeret Mono"/>
                <a:ea typeface="Azeret Mono"/>
                <a:cs typeface="Azeret Mono"/>
              </a:defRPr>
            </a:pPr>
            <a:r>
              <a:rPr sz="3900" b="1">
                <a:solidFill>
                  <a:srgbClr val="6E3FC8"/>
                </a:solidFill>
                <a:latin typeface="Azeret Mono"/>
                <a:ea typeface="Azeret Mono"/>
                <a:cs typeface="Azeret Mono"/>
              </a:rPr>
              <a:t>02</a:t>
            </a:r>
            <a:endParaRPr sz="3900" b="1">
              <a:solidFill>
                <a:srgbClr val="6E3FC8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3" name="text-21"/>
          <p:cNvSpPr>
            <a:spLocks noGrp="1"/>
          </p:cNvSpPr>
          <p:nvPr/>
        </p:nvSpPr>
        <p:spPr>
          <a:xfrm>
            <a:off x="4257675" y="31242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像黑箱</a:t>
            </a:r>
            <a:endParaRPr sz="195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line-22"/>
          <p:cNvSpPr>
            <a:spLocks noGrp="1"/>
          </p:cNvSpPr>
          <p:nvPr/>
        </p:nvSpPr>
        <p:spPr>
          <a:xfrm>
            <a:off x="4257675" y="3638550"/>
            <a:ext cx="314325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15" name="text-23"/>
          <p:cNvSpPr>
            <a:spLocks noGrp="1"/>
          </p:cNvSpPr>
          <p:nvPr/>
        </p:nvSpPr>
        <p:spPr>
          <a:xfrm>
            <a:off x="4257675" y="3886200"/>
            <a:ext cx="3143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42000"/>
              </a:lnSpc>
              <a:buNone/>
              <a:defRPr sz="13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只给风险分和结论，无法说明具体证据来自哪里、哪一步做了什么</a:t>
            </a:r>
            <a:endParaRPr sz="135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24"/>
          <p:cNvSpPr>
            <a:spLocks noGrp="1"/>
          </p:cNvSpPr>
          <p:nvPr/>
        </p:nvSpPr>
        <p:spPr>
          <a:xfrm>
            <a:off x="8020050" y="2343150"/>
            <a:ext cx="94107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900" b="1">
                <a:solidFill>
                  <a:srgbClr val="FF5465"/>
                </a:solidFill>
                <a:latin typeface="Azeret Mono"/>
                <a:ea typeface="Azeret Mono"/>
                <a:cs typeface="Azeret Mono"/>
              </a:defRPr>
            </a:pPr>
            <a:r>
              <a:rPr sz="3900" b="1">
                <a:solidFill>
                  <a:srgbClr val="FF5465"/>
                </a:solidFill>
                <a:latin typeface="Azeret Mono"/>
                <a:ea typeface="Azeret Mono"/>
                <a:cs typeface="Azeret Mono"/>
              </a:rPr>
              <a:t>03</a:t>
            </a:r>
            <a:endParaRPr sz="3900" b="1">
              <a:solidFill>
                <a:srgbClr val="FF5465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7" name="text-25"/>
          <p:cNvSpPr>
            <a:spLocks noGrp="1"/>
          </p:cNvSpPr>
          <p:nvPr/>
        </p:nvSpPr>
        <p:spPr>
          <a:xfrm>
            <a:off x="8020050" y="31242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结果难复现</a:t>
            </a:r>
            <a:endParaRPr sz="195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line-26"/>
          <p:cNvSpPr>
            <a:spLocks noGrp="1"/>
          </p:cNvSpPr>
          <p:nvPr/>
        </p:nvSpPr>
        <p:spPr>
          <a:xfrm>
            <a:off x="8020050" y="3638550"/>
            <a:ext cx="314325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19" name="text-27"/>
          <p:cNvSpPr>
            <a:spLocks noGrp="1"/>
          </p:cNvSpPr>
          <p:nvPr/>
        </p:nvSpPr>
        <p:spPr>
          <a:xfrm>
            <a:off x="8020050" y="3886200"/>
            <a:ext cx="3143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42000"/>
              </a:lnSpc>
              <a:buNone/>
              <a:defRPr sz="13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报告一旦被改动，团队、评委和用户往往没有独立校验手段</a:t>
            </a:r>
            <a:endParaRPr sz="135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ect-28"/>
          <p:cNvSpPr>
            <a:spLocks noGrp="1"/>
          </p:cNvSpPr>
          <p:nvPr/>
        </p:nvSpPr>
        <p:spPr>
          <a:xfrm>
            <a:off x="495300" y="5391150"/>
            <a:ext cx="11201400" cy="781050"/>
          </a:xfrm>
          <a:prstGeom prst="roundRect">
            <a:avLst>
              <a:gd name="adj" fmla="val 9756"/>
            </a:avLst>
          </a:prstGeom>
          <a:solidFill>
            <a:srgbClr val="171A18"/>
          </a:solidFill>
          <a:ln w="0">
            <a:solidFill>
              <a:srgbClr val="171A18"/>
            </a:solidFill>
            <a:prstDash val="solid"/>
          </a:ln>
        </p:spPr>
      </p:sp>
      <p:sp>
        <p:nvSpPr>
          <p:cNvPr id="21" name="text-29"/>
          <p:cNvSpPr>
            <a:spLocks noGrp="1"/>
          </p:cNvSpPr>
          <p:nvPr/>
        </p:nvSpPr>
        <p:spPr>
          <a:xfrm>
            <a:off x="704850" y="5610225"/>
            <a:ext cx="99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核心矛盾</a:t>
            </a:r>
            <a:endParaRPr sz="1125" b="1">
              <a:solidFill>
                <a:srgbClr val="A87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-30"/>
          <p:cNvSpPr>
            <a:spLocks noGrp="1"/>
          </p:cNvSpPr>
          <p:nvPr/>
        </p:nvSpPr>
        <p:spPr>
          <a:xfrm>
            <a:off x="1885950" y="5534025"/>
            <a:ext cx="809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速度提升了，但信任没有随之提升</a:t>
            </a:r>
            <a:endParaRPr sz="2100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31"/>
          <p:cNvSpPr>
            <a:spLocks noGrp="1"/>
          </p:cNvSpPr>
          <p:nvPr/>
        </p:nvSpPr>
        <p:spPr>
          <a:xfrm>
            <a:off x="495300" y="381000"/>
            <a:ext cx="590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THE SOLUTION</a:t>
            </a:r>
            <a:endParaRPr sz="900" b="1">
              <a:solidFill>
                <a:srgbClr val="A87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32"/>
          <p:cNvSpPr>
            <a:spLocks noGrp="1"/>
          </p:cNvSpPr>
          <p:nvPr/>
        </p:nvSpPr>
        <p:spPr>
          <a:xfrm>
            <a:off x="495300" y="60960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0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FluxAudit：把“判断”升级为“证据链”</a:t>
            </a:r>
            <a:endParaRPr sz="3000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line-33"/>
          <p:cNvSpPr>
            <a:spLocks noGrp="1"/>
          </p:cNvSpPr>
          <p:nvPr/>
        </p:nvSpPr>
        <p:spPr>
          <a:xfrm>
            <a:off x="495300" y="1257300"/>
            <a:ext cx="1120140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5" name="text-34"/>
          <p:cNvSpPr>
            <a:spLocks noGrp="1"/>
          </p:cNvSpPr>
          <p:nvPr/>
        </p:nvSpPr>
        <p:spPr>
          <a:xfrm>
            <a:off x="495300" y="65151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77807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77807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FLUXAUDIT · AI × WEB3</a:t>
            </a:r>
            <a:endParaRPr sz="825" b="1">
              <a:solidFill>
                <a:srgbClr val="77807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-35"/>
          <p:cNvSpPr>
            <a:spLocks noGrp="1"/>
          </p:cNvSpPr>
          <p:nvPr/>
        </p:nvSpPr>
        <p:spPr>
          <a:xfrm>
            <a:off x="113728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77807E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77807E"/>
                </a:solidFill>
                <a:latin typeface="Azeret Mono"/>
                <a:ea typeface="Azeret Mono"/>
                <a:cs typeface="Azeret Mono"/>
              </a:rPr>
              <a:t>03</a:t>
            </a:r>
            <a:endParaRPr sz="900" b="1">
              <a:solidFill>
                <a:srgbClr val="77807E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7" name="text-36"/>
          <p:cNvSpPr>
            <a:spLocks noGrp="1"/>
          </p:cNvSpPr>
          <p:nvPr/>
        </p:nvSpPr>
        <p:spPr>
          <a:xfrm>
            <a:off x="666750" y="1714500"/>
            <a:ext cx="2000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300" b="1">
                <a:solidFill>
                  <a:srgbClr val="F2EEE4"/>
                </a:solidFill>
                <a:latin typeface="Azeret Mono"/>
                <a:ea typeface="Azeret Mono"/>
                <a:cs typeface="Azeret Mono"/>
              </a:defRPr>
            </a:pPr>
            <a:r>
              <a:rPr sz="3300" b="1">
                <a:solidFill>
                  <a:srgbClr val="F2EEE4"/>
                </a:solidFill>
                <a:latin typeface="Azeret Mono"/>
                <a:ea typeface="Azeret Mono"/>
                <a:cs typeface="Azeret Mono"/>
              </a:rPr>
              <a:t>CLAIM</a:t>
            </a:r>
            <a:endParaRPr sz="3300" b="1">
              <a:solidFill>
                <a:srgbClr val="F2EEE4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8" name="text-37"/>
          <p:cNvSpPr>
            <a:spLocks noGrp="1"/>
          </p:cNvSpPr>
          <p:nvPr/>
        </p:nvSpPr>
        <p:spPr>
          <a:xfrm>
            <a:off x="2800350" y="1714500"/>
            <a:ext cx="419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3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×</a:t>
            </a:r>
            <a:endParaRPr sz="3300" b="1">
              <a:solidFill>
                <a:srgbClr val="A87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text-38"/>
          <p:cNvSpPr>
            <a:spLocks noGrp="1"/>
          </p:cNvSpPr>
          <p:nvPr/>
        </p:nvSpPr>
        <p:spPr>
          <a:xfrm>
            <a:off x="3371850" y="1714500"/>
            <a:ext cx="171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300" b="1">
                <a:solidFill>
                  <a:srgbClr val="F2EEE4"/>
                </a:solidFill>
                <a:latin typeface="Azeret Mono"/>
                <a:ea typeface="Azeret Mono"/>
                <a:cs typeface="Azeret Mono"/>
              </a:defRPr>
            </a:pPr>
            <a:r>
              <a:rPr sz="3300" b="1">
                <a:solidFill>
                  <a:srgbClr val="F2EEE4"/>
                </a:solidFill>
                <a:latin typeface="Azeret Mono"/>
                <a:ea typeface="Azeret Mono"/>
                <a:cs typeface="Azeret Mono"/>
              </a:rPr>
              <a:t>FACT</a:t>
            </a:r>
            <a:endParaRPr sz="3300" b="1">
              <a:solidFill>
                <a:srgbClr val="F2EEE4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0" name="text-39"/>
          <p:cNvSpPr>
            <a:spLocks noGrp="1"/>
          </p:cNvSpPr>
          <p:nvPr/>
        </p:nvSpPr>
        <p:spPr>
          <a:xfrm>
            <a:off x="5143500" y="1714500"/>
            <a:ext cx="419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300" b="1">
                <a:solidFill>
                  <a:srgbClr val="39D7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39D7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=</a:t>
            </a:r>
            <a:endParaRPr sz="3300" b="1">
              <a:solidFill>
                <a:srgbClr val="39D7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-40"/>
          <p:cNvSpPr>
            <a:spLocks noGrp="1"/>
          </p:cNvSpPr>
          <p:nvPr/>
        </p:nvSpPr>
        <p:spPr>
          <a:xfrm>
            <a:off x="5715000" y="1714500"/>
            <a:ext cx="3143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300" b="1">
                <a:solidFill>
                  <a:srgbClr val="F5F6F2"/>
                </a:solidFill>
                <a:latin typeface="Azeret Mono"/>
                <a:ea typeface="Azeret Mono"/>
                <a:cs typeface="Azeret Mono"/>
              </a:defRPr>
            </a:pPr>
            <a:r>
              <a:rPr sz="3300" b="1">
                <a:solidFill>
                  <a:srgbClr val="F5F6F2"/>
                </a:solidFill>
                <a:latin typeface="Azeret Mono"/>
                <a:ea typeface="Azeret Mono"/>
                <a:cs typeface="Azeret Mono"/>
              </a:rPr>
              <a:t>EVIDENCE</a:t>
            </a:r>
            <a:endParaRPr sz="3300" b="1">
              <a:solidFill>
                <a:srgbClr val="F5F6F2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2" name="text-41"/>
          <p:cNvSpPr>
            <a:spLocks noGrp="1"/>
          </p:cNvSpPr>
          <p:nvPr/>
        </p:nvSpPr>
        <p:spPr>
          <a:xfrm>
            <a:off x="723900" y="2419350"/>
            <a:ext cx="1847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白皮书声明</a:t>
            </a:r>
            <a:endParaRPr sz="1200" b="1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42"/>
          <p:cNvSpPr>
            <a:spLocks noGrp="1"/>
          </p:cNvSpPr>
          <p:nvPr/>
        </p:nvSpPr>
        <p:spPr>
          <a:xfrm>
            <a:off x="3409950" y="24193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链上事实</a:t>
            </a:r>
            <a:endParaRPr sz="1200" b="1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-43"/>
          <p:cNvSpPr>
            <a:spLocks noGrp="1"/>
          </p:cNvSpPr>
          <p:nvPr/>
        </p:nvSpPr>
        <p:spPr>
          <a:xfrm>
            <a:off x="5772150" y="24193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可追溯的风险依据</a:t>
            </a:r>
            <a:endParaRPr sz="1200" b="1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line-44"/>
          <p:cNvSpPr>
            <a:spLocks noGrp="1"/>
          </p:cNvSpPr>
          <p:nvPr/>
        </p:nvSpPr>
        <p:spPr>
          <a:xfrm>
            <a:off x="666750" y="2914650"/>
            <a:ext cx="1066800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16" name="text-45"/>
          <p:cNvSpPr>
            <a:spLocks noGrp="1"/>
          </p:cNvSpPr>
          <p:nvPr/>
        </p:nvSpPr>
        <p:spPr>
          <a:xfrm>
            <a:off x="666750" y="333375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A879FF"/>
                </a:solidFill>
                <a:latin typeface="Azeret Mono"/>
                <a:ea typeface="Azeret Mono"/>
                <a:cs typeface="Azeret Mono"/>
              </a:defRPr>
            </a:pPr>
            <a:r>
              <a:rPr sz="825" b="1">
                <a:solidFill>
                  <a:srgbClr val="A879FF"/>
                </a:solidFill>
                <a:latin typeface="Azeret Mono"/>
                <a:ea typeface="Azeret Mono"/>
                <a:cs typeface="Azeret Mono"/>
              </a:rPr>
              <a:t>INPUT</a:t>
            </a:r>
            <a:endParaRPr sz="825" b="1">
              <a:solidFill>
                <a:srgbClr val="A879FF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7" name="text-46"/>
          <p:cNvSpPr>
            <a:spLocks noGrp="1"/>
          </p:cNvSpPr>
          <p:nvPr/>
        </p:nvSpPr>
        <p:spPr>
          <a:xfrm>
            <a:off x="666750" y="3657600"/>
            <a:ext cx="2266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录入项目材料</a:t>
            </a:r>
            <a:endParaRPr sz="172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-47"/>
          <p:cNvSpPr>
            <a:spLocks noGrp="1"/>
          </p:cNvSpPr>
          <p:nvPr/>
        </p:nvSpPr>
        <p:spPr>
          <a:xfrm>
            <a:off x="666750" y="4362450"/>
            <a:ext cx="22669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合约地址、链 ID、白皮书文本或附件</a:t>
            </a:r>
            <a:endParaRPr sz="1200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-48"/>
          <p:cNvSpPr>
            <a:spLocks noGrp="1"/>
          </p:cNvSpPr>
          <p:nvPr/>
        </p:nvSpPr>
        <p:spPr>
          <a:xfrm>
            <a:off x="2990850" y="38100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800" b="1">
              <a:solidFill>
                <a:srgbClr val="A87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-49"/>
          <p:cNvSpPr>
            <a:spLocks noGrp="1"/>
          </p:cNvSpPr>
          <p:nvPr/>
        </p:nvSpPr>
        <p:spPr>
          <a:xfrm>
            <a:off x="3362325" y="333375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A879FF"/>
                </a:solidFill>
                <a:latin typeface="Azeret Mono"/>
                <a:ea typeface="Azeret Mono"/>
                <a:cs typeface="Azeret Mono"/>
              </a:defRPr>
            </a:pPr>
            <a:r>
              <a:rPr sz="825" b="1">
                <a:solidFill>
                  <a:srgbClr val="A879FF"/>
                </a:solidFill>
                <a:latin typeface="Azeret Mono"/>
                <a:ea typeface="Azeret Mono"/>
                <a:cs typeface="Azeret Mono"/>
              </a:rPr>
              <a:t>ANALYZE</a:t>
            </a:r>
            <a:endParaRPr sz="825" b="1">
              <a:solidFill>
                <a:srgbClr val="A879FF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21" name="text-50"/>
          <p:cNvSpPr>
            <a:spLocks noGrp="1"/>
          </p:cNvSpPr>
          <p:nvPr/>
        </p:nvSpPr>
        <p:spPr>
          <a:xfrm>
            <a:off x="3362325" y="3657600"/>
            <a:ext cx="2266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三类 Agent 交叉核验</a:t>
            </a:r>
            <a:endParaRPr sz="172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-51"/>
          <p:cNvSpPr>
            <a:spLocks noGrp="1"/>
          </p:cNvSpPr>
          <p:nvPr/>
        </p:nvSpPr>
        <p:spPr>
          <a:xfrm>
            <a:off x="3362325" y="4362450"/>
            <a:ext cx="22669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提取声明 → 对照事实 → 风险评分</a:t>
            </a:r>
            <a:endParaRPr sz="1200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-52"/>
          <p:cNvSpPr>
            <a:spLocks noGrp="1"/>
          </p:cNvSpPr>
          <p:nvPr/>
        </p:nvSpPr>
        <p:spPr>
          <a:xfrm>
            <a:off x="5686425" y="38100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800" b="1">
              <a:solidFill>
                <a:srgbClr val="A87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-53"/>
          <p:cNvSpPr>
            <a:spLocks noGrp="1"/>
          </p:cNvSpPr>
          <p:nvPr/>
        </p:nvSpPr>
        <p:spPr>
          <a:xfrm>
            <a:off x="6057900" y="333375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A879FF"/>
                </a:solidFill>
                <a:latin typeface="Azeret Mono"/>
                <a:ea typeface="Azeret Mono"/>
                <a:cs typeface="Azeret Mono"/>
              </a:defRPr>
            </a:pPr>
            <a:r>
              <a:rPr sz="825" b="1">
                <a:solidFill>
                  <a:srgbClr val="A879FF"/>
                </a:solidFill>
                <a:latin typeface="Azeret Mono"/>
                <a:ea typeface="Azeret Mono"/>
                <a:cs typeface="Azeret Mono"/>
              </a:rPr>
              <a:t>REPORT</a:t>
            </a:r>
            <a:endParaRPr sz="825" b="1">
              <a:solidFill>
                <a:srgbClr val="A879FF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25" name="text-54"/>
          <p:cNvSpPr>
            <a:spLocks noGrp="1"/>
          </p:cNvSpPr>
          <p:nvPr/>
        </p:nvSpPr>
        <p:spPr>
          <a:xfrm>
            <a:off x="6057900" y="3657600"/>
            <a:ext cx="2266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生成结构化风险报告</a:t>
            </a:r>
            <a:endParaRPr sz="172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-55"/>
          <p:cNvSpPr>
            <a:spLocks noGrp="1"/>
          </p:cNvSpPr>
          <p:nvPr/>
        </p:nvSpPr>
        <p:spPr>
          <a:xfrm>
            <a:off x="6057900" y="4362450"/>
            <a:ext cx="22669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风险分、等级、findings、证据与来源</a:t>
            </a:r>
            <a:endParaRPr sz="1200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text-56"/>
          <p:cNvSpPr>
            <a:spLocks noGrp="1"/>
          </p:cNvSpPr>
          <p:nvPr/>
        </p:nvSpPr>
        <p:spPr>
          <a:xfrm>
            <a:off x="8382000" y="38100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800" b="1">
              <a:solidFill>
                <a:srgbClr val="A87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-57"/>
          <p:cNvSpPr>
            <a:spLocks noGrp="1"/>
          </p:cNvSpPr>
          <p:nvPr/>
        </p:nvSpPr>
        <p:spPr>
          <a:xfrm>
            <a:off x="8753475" y="333375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39D77D"/>
                </a:solidFill>
                <a:latin typeface="Azeret Mono"/>
                <a:ea typeface="Azeret Mono"/>
                <a:cs typeface="Azeret Mono"/>
              </a:defRPr>
            </a:pPr>
            <a:r>
              <a:rPr sz="825" b="1">
                <a:solidFill>
                  <a:srgbClr val="39D77D"/>
                </a:solidFill>
                <a:latin typeface="Azeret Mono"/>
                <a:ea typeface="Azeret Mono"/>
                <a:cs typeface="Azeret Mono"/>
              </a:rPr>
              <a:t>VERIFY</a:t>
            </a:r>
            <a:endParaRPr sz="825" b="1">
              <a:solidFill>
                <a:srgbClr val="39D77D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29" name="text-58"/>
          <p:cNvSpPr>
            <a:spLocks noGrp="1"/>
          </p:cNvSpPr>
          <p:nvPr/>
        </p:nvSpPr>
        <p:spPr>
          <a:xfrm>
            <a:off x="8753475" y="3657600"/>
            <a:ext cx="2266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本地重算 / 可选上链</a:t>
            </a:r>
            <a:endParaRPr sz="172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text-59"/>
          <p:cNvSpPr>
            <a:spLocks noGrp="1"/>
          </p:cNvSpPr>
          <p:nvPr/>
        </p:nvSpPr>
        <p:spPr>
          <a:xfrm>
            <a:off x="8753475" y="4362450"/>
            <a:ext cx="22669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逐步哈希、Merkle Root、report hash</a:t>
            </a:r>
            <a:endParaRPr sz="1200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rect-60"/>
          <p:cNvSpPr>
            <a:spLocks noGrp="1"/>
          </p:cNvSpPr>
          <p:nvPr/>
        </p:nvSpPr>
        <p:spPr>
          <a:xfrm>
            <a:off x="666750" y="5467350"/>
            <a:ext cx="10668000" cy="628650"/>
          </a:xfrm>
          <a:prstGeom prst="roundRect">
            <a:avLst>
              <a:gd name="adj" fmla="val 12121"/>
            </a:avLst>
          </a:prstGeom>
          <a:solidFill>
            <a:srgbClr val="131A1F"/>
          </a:solidFill>
          <a:ln w="9525">
            <a:solidFill>
              <a:srgbClr val="263036"/>
            </a:solidFill>
            <a:prstDash val="solid"/>
          </a:ln>
        </p:spPr>
      </p:sp>
      <p:sp>
        <p:nvSpPr>
          <p:cNvPr id="32" name="text-61"/>
          <p:cNvSpPr>
            <a:spLocks noGrp="1"/>
          </p:cNvSpPr>
          <p:nvPr/>
        </p:nvSpPr>
        <p:spPr>
          <a:xfrm>
            <a:off x="876300" y="56673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产品承诺</a:t>
            </a:r>
            <a:endParaRPr sz="1050" b="1">
              <a:solidFill>
                <a:srgbClr val="A87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text-62"/>
          <p:cNvSpPr>
            <a:spLocks noGrp="1"/>
          </p:cNvSpPr>
          <p:nvPr/>
        </p:nvSpPr>
        <p:spPr>
          <a:xfrm>
            <a:off x="1943100" y="56007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让用户看到“为什么”，也能独立验证“有没有被改过”。</a:t>
            </a:r>
            <a:endParaRPr sz="172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63"/>
          <p:cNvSpPr>
            <a:spLocks noGrp="1"/>
          </p:cNvSpPr>
          <p:nvPr/>
        </p:nvSpPr>
        <p:spPr>
          <a:xfrm>
            <a:off x="495300" y="381000"/>
            <a:ext cx="590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PRODUCT JOURNEY</a:t>
            </a:r>
            <a:endParaRPr sz="90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64"/>
          <p:cNvSpPr>
            <a:spLocks noGrp="1"/>
          </p:cNvSpPr>
          <p:nvPr/>
        </p:nvSpPr>
        <p:spPr>
          <a:xfrm>
            <a:off x="495300" y="60960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0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四步完成一次可验证审计</a:t>
            </a:r>
            <a:endParaRPr sz="300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line-65"/>
          <p:cNvSpPr>
            <a:spLocks noGrp="1"/>
          </p:cNvSpPr>
          <p:nvPr/>
        </p:nvSpPr>
        <p:spPr>
          <a:xfrm>
            <a:off x="495300" y="1257300"/>
            <a:ext cx="1120140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5" name="text-66"/>
          <p:cNvSpPr>
            <a:spLocks noGrp="1"/>
          </p:cNvSpPr>
          <p:nvPr/>
        </p:nvSpPr>
        <p:spPr>
          <a:xfrm>
            <a:off x="495300" y="65151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777A7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777A7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FLUXAUDIT · AI × WEB3</a:t>
            </a:r>
            <a:endParaRPr sz="825" b="1">
              <a:solidFill>
                <a:srgbClr val="777A7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-67"/>
          <p:cNvSpPr>
            <a:spLocks noGrp="1"/>
          </p:cNvSpPr>
          <p:nvPr/>
        </p:nvSpPr>
        <p:spPr>
          <a:xfrm>
            <a:off x="113728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777A74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777A74"/>
                </a:solidFill>
                <a:latin typeface="Azeret Mono"/>
                <a:ea typeface="Azeret Mono"/>
                <a:cs typeface="Azeret Mono"/>
              </a:rPr>
              <a:t>04</a:t>
            </a:r>
            <a:endParaRPr sz="900" b="1">
              <a:solidFill>
                <a:srgbClr val="777A74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7" name="text-68"/>
          <p:cNvSpPr>
            <a:spLocks noGrp="1"/>
          </p:cNvSpPr>
          <p:nvPr/>
        </p:nvSpPr>
        <p:spPr>
          <a:xfrm>
            <a:off x="590550" y="146685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6E3FC8"/>
                </a:solidFill>
                <a:latin typeface="Azeret Mono"/>
                <a:ea typeface="Azeret Mono"/>
                <a:cs typeface="Azeret Mono"/>
              </a:defRPr>
            </a:pPr>
            <a:r>
              <a:rPr sz="975" b="1">
                <a:solidFill>
                  <a:srgbClr val="6E3FC8"/>
                </a:solidFill>
                <a:latin typeface="Azeret Mono"/>
                <a:ea typeface="Azeret Mono"/>
                <a:cs typeface="Azeret Mono"/>
              </a:rPr>
              <a:t>01  CREATE</a:t>
            </a:r>
            <a:endParaRPr sz="975" b="1">
              <a:solidFill>
                <a:srgbClr val="6E3FC8"/>
              </a:solidFill>
              <a:latin typeface="Azeret Mono"/>
              <a:ea typeface="Azeret Mono"/>
              <a:cs typeface="Azeret Mono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rcRect t="6728" b="6728"/>
          <a:stretch>
            <a:fillRect/>
          </a:stretch>
        </p:blipFill>
        <p:spPr>
          <a:xfrm>
            <a:off x="590550" y="1809750"/>
            <a:ext cx="2266950" cy="4248150"/>
          </a:xfrm>
          <a:prstGeom prst="roundRect">
            <a:avLst>
              <a:gd name="adj" fmla="val 4202"/>
            </a:avLst>
          </a:prstGeom>
        </p:spPr>
      </p:pic>
      <p:sp>
        <p:nvSpPr>
          <p:cNvPr id="8" name="rect-69"/>
          <p:cNvSpPr>
            <a:spLocks noGrp="1"/>
          </p:cNvSpPr>
          <p:nvPr/>
        </p:nvSpPr>
        <p:spPr>
          <a:xfrm>
            <a:off x="590550" y="1809750"/>
            <a:ext cx="2266950" cy="4248150"/>
          </a:xfrm>
          <a:prstGeom prst="roundRect">
            <a:avLst>
              <a:gd name="adj" fmla="val 4202"/>
            </a:avLst>
          </a:prstGeom>
          <a:noFill/>
          <a:ln w="9525">
            <a:solidFill>
              <a:srgbClr val="BEB6AA"/>
            </a:solidFill>
            <a:prstDash val="solid"/>
          </a:ln>
        </p:spPr>
      </p:sp>
      <p:sp>
        <p:nvSpPr>
          <p:cNvPr id="9" name="text-70"/>
          <p:cNvSpPr>
            <a:spLocks noGrp="1"/>
          </p:cNvSpPr>
          <p:nvPr/>
        </p:nvSpPr>
        <p:spPr>
          <a:xfrm>
            <a:off x="590550" y="6191250"/>
            <a:ext cx="2266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提交地址与白皮书</a:t>
            </a:r>
            <a:endParaRPr sz="120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71"/>
          <p:cNvSpPr>
            <a:spLocks noGrp="1"/>
          </p:cNvSpPr>
          <p:nvPr/>
        </p:nvSpPr>
        <p:spPr>
          <a:xfrm>
            <a:off x="3495675" y="146685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6E3FC8"/>
                </a:solidFill>
                <a:latin typeface="Azeret Mono"/>
                <a:ea typeface="Azeret Mono"/>
                <a:cs typeface="Azeret Mono"/>
              </a:defRPr>
            </a:pPr>
            <a:r>
              <a:rPr sz="975" b="1">
                <a:solidFill>
                  <a:srgbClr val="6E3FC8"/>
                </a:solidFill>
                <a:latin typeface="Azeret Mono"/>
                <a:ea typeface="Azeret Mono"/>
                <a:cs typeface="Azeret Mono"/>
              </a:rPr>
              <a:t>02  EXECUTE</a:t>
            </a:r>
            <a:endParaRPr sz="975" b="1">
              <a:solidFill>
                <a:srgbClr val="6E3FC8"/>
              </a:solidFill>
              <a:latin typeface="Azeret Mono"/>
              <a:ea typeface="Azeret Mono"/>
              <a:cs typeface="Azeret Mono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rcRect t="6728" b="6728"/>
          <a:stretch>
            <a:fillRect/>
          </a:stretch>
        </p:blipFill>
        <p:spPr>
          <a:xfrm>
            <a:off x="3495675" y="1809750"/>
            <a:ext cx="2266950" cy="4248150"/>
          </a:xfrm>
          <a:prstGeom prst="roundRect">
            <a:avLst>
              <a:gd name="adj" fmla="val 4202"/>
            </a:avLst>
          </a:prstGeom>
        </p:spPr>
      </p:pic>
      <p:sp>
        <p:nvSpPr>
          <p:cNvPr id="12" name="rect-72"/>
          <p:cNvSpPr>
            <a:spLocks noGrp="1"/>
          </p:cNvSpPr>
          <p:nvPr/>
        </p:nvSpPr>
        <p:spPr>
          <a:xfrm>
            <a:off x="3495675" y="1809750"/>
            <a:ext cx="2266950" cy="4248150"/>
          </a:xfrm>
          <a:prstGeom prst="roundRect">
            <a:avLst>
              <a:gd name="adj" fmla="val 4202"/>
            </a:avLst>
          </a:prstGeom>
          <a:noFill/>
          <a:ln w="9525">
            <a:solidFill>
              <a:srgbClr val="BEB6AA"/>
            </a:solidFill>
            <a:prstDash val="solid"/>
          </a:ln>
        </p:spPr>
      </p:sp>
      <p:sp>
        <p:nvSpPr>
          <p:cNvPr id="13" name="text-73"/>
          <p:cNvSpPr>
            <a:spLocks noGrp="1"/>
          </p:cNvSpPr>
          <p:nvPr/>
        </p:nvSpPr>
        <p:spPr>
          <a:xfrm>
            <a:off x="3495675" y="6191250"/>
            <a:ext cx="2266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观看七步实时推演</a:t>
            </a:r>
            <a:endParaRPr sz="120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-74"/>
          <p:cNvSpPr>
            <a:spLocks noGrp="1"/>
          </p:cNvSpPr>
          <p:nvPr/>
        </p:nvSpPr>
        <p:spPr>
          <a:xfrm>
            <a:off x="6400800" y="146685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6E3FC8"/>
                </a:solidFill>
                <a:latin typeface="Azeret Mono"/>
                <a:ea typeface="Azeret Mono"/>
                <a:cs typeface="Azeret Mono"/>
              </a:defRPr>
            </a:pPr>
            <a:r>
              <a:rPr sz="975" b="1">
                <a:solidFill>
                  <a:srgbClr val="6E3FC8"/>
                </a:solidFill>
                <a:latin typeface="Azeret Mono"/>
                <a:ea typeface="Azeret Mono"/>
                <a:cs typeface="Azeret Mono"/>
              </a:rPr>
              <a:t>03  REPORT</a:t>
            </a:r>
            <a:endParaRPr sz="975" b="1">
              <a:solidFill>
                <a:srgbClr val="6E3FC8"/>
              </a:solidFill>
              <a:latin typeface="Azeret Mono"/>
              <a:ea typeface="Azeret Mono"/>
              <a:cs typeface="Azeret Mono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6728" b="6728"/>
          <a:stretch>
            <a:fillRect/>
          </a:stretch>
        </p:blipFill>
        <p:spPr>
          <a:xfrm>
            <a:off x="6400800" y="1809750"/>
            <a:ext cx="2266950" cy="4248150"/>
          </a:xfrm>
          <a:prstGeom prst="roundRect">
            <a:avLst>
              <a:gd name="adj" fmla="val 4202"/>
            </a:avLst>
          </a:prstGeom>
        </p:spPr>
      </p:pic>
      <p:sp>
        <p:nvSpPr>
          <p:cNvPr id="16" name="rect-75"/>
          <p:cNvSpPr>
            <a:spLocks noGrp="1"/>
          </p:cNvSpPr>
          <p:nvPr/>
        </p:nvSpPr>
        <p:spPr>
          <a:xfrm>
            <a:off x="6400800" y="1809750"/>
            <a:ext cx="2266950" cy="4248150"/>
          </a:xfrm>
          <a:prstGeom prst="roundRect">
            <a:avLst>
              <a:gd name="adj" fmla="val 4202"/>
            </a:avLst>
          </a:prstGeom>
          <a:noFill/>
          <a:ln w="9525">
            <a:solidFill>
              <a:srgbClr val="BEB6AA"/>
            </a:solidFill>
            <a:prstDash val="solid"/>
          </a:ln>
        </p:spPr>
      </p:sp>
      <p:sp>
        <p:nvSpPr>
          <p:cNvPr id="17" name="text-76"/>
          <p:cNvSpPr>
            <a:spLocks noGrp="1"/>
          </p:cNvSpPr>
          <p:nvPr/>
        </p:nvSpPr>
        <p:spPr>
          <a:xfrm>
            <a:off x="6400800" y="6191250"/>
            <a:ext cx="2266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阅读风险与证据</a:t>
            </a:r>
            <a:endParaRPr sz="120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-77"/>
          <p:cNvSpPr>
            <a:spLocks noGrp="1"/>
          </p:cNvSpPr>
          <p:nvPr/>
        </p:nvSpPr>
        <p:spPr>
          <a:xfrm>
            <a:off x="9305925" y="146685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6E3FC8"/>
                </a:solidFill>
                <a:latin typeface="Azeret Mono"/>
                <a:ea typeface="Azeret Mono"/>
                <a:cs typeface="Azeret Mono"/>
              </a:defRPr>
            </a:pPr>
            <a:r>
              <a:rPr sz="975" b="1">
                <a:solidFill>
                  <a:srgbClr val="6E3FC8"/>
                </a:solidFill>
                <a:latin typeface="Azeret Mono"/>
                <a:ea typeface="Azeret Mono"/>
                <a:cs typeface="Azeret Mono"/>
              </a:rPr>
              <a:t>04  VERIFY</a:t>
            </a:r>
            <a:endParaRPr sz="975" b="1">
              <a:solidFill>
                <a:srgbClr val="6E3FC8"/>
              </a:solidFill>
              <a:latin typeface="Azeret Mono"/>
              <a:ea typeface="Azeret Mono"/>
              <a:cs typeface="Azeret Mono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rcRect t="6728" b="6728"/>
          <a:stretch>
            <a:fillRect/>
          </a:stretch>
        </p:blipFill>
        <p:spPr>
          <a:xfrm>
            <a:off x="9305925" y="1809750"/>
            <a:ext cx="2266950" cy="4248150"/>
          </a:xfrm>
          <a:prstGeom prst="roundRect">
            <a:avLst>
              <a:gd name="adj" fmla="val 4202"/>
            </a:avLst>
          </a:prstGeom>
        </p:spPr>
      </p:pic>
      <p:sp>
        <p:nvSpPr>
          <p:cNvPr id="20" name="rect-78"/>
          <p:cNvSpPr>
            <a:spLocks noGrp="1"/>
          </p:cNvSpPr>
          <p:nvPr/>
        </p:nvSpPr>
        <p:spPr>
          <a:xfrm>
            <a:off x="9305925" y="1809750"/>
            <a:ext cx="2266950" cy="4248150"/>
          </a:xfrm>
          <a:prstGeom prst="roundRect">
            <a:avLst>
              <a:gd name="adj" fmla="val 4202"/>
            </a:avLst>
          </a:prstGeom>
          <a:noFill/>
          <a:ln w="9525">
            <a:solidFill>
              <a:srgbClr val="BEB6AA"/>
            </a:solidFill>
            <a:prstDash val="solid"/>
          </a:ln>
        </p:spPr>
      </p:sp>
      <p:sp>
        <p:nvSpPr>
          <p:cNvPr id="21" name="text-79"/>
          <p:cNvSpPr>
            <a:spLocks noGrp="1"/>
          </p:cNvSpPr>
          <p:nvPr/>
        </p:nvSpPr>
        <p:spPr>
          <a:xfrm>
            <a:off x="9305925" y="6191250"/>
            <a:ext cx="2266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独立重算完整性</a:t>
            </a:r>
            <a:endParaRPr sz="120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80"/>
          <p:cNvSpPr>
            <a:spLocks noGrp="1"/>
          </p:cNvSpPr>
          <p:nvPr/>
        </p:nvSpPr>
        <p:spPr>
          <a:xfrm>
            <a:off x="495300" y="381000"/>
            <a:ext cx="590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METHOD</a:t>
            </a:r>
            <a:endParaRPr sz="900" b="1">
              <a:solidFill>
                <a:srgbClr val="A87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81"/>
          <p:cNvSpPr>
            <a:spLocks noGrp="1"/>
          </p:cNvSpPr>
          <p:nvPr/>
        </p:nvSpPr>
        <p:spPr>
          <a:xfrm>
            <a:off x="495300" y="60960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0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三类 Agent 分工明确；模型只做它擅长的部分</a:t>
            </a:r>
            <a:endParaRPr sz="3000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line-82"/>
          <p:cNvSpPr>
            <a:spLocks noGrp="1"/>
          </p:cNvSpPr>
          <p:nvPr/>
        </p:nvSpPr>
        <p:spPr>
          <a:xfrm>
            <a:off x="495300" y="1257300"/>
            <a:ext cx="1120140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5" name="text-83"/>
          <p:cNvSpPr>
            <a:spLocks noGrp="1"/>
          </p:cNvSpPr>
          <p:nvPr/>
        </p:nvSpPr>
        <p:spPr>
          <a:xfrm>
            <a:off x="495300" y="65151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77807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77807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FLUXAUDIT · AI × WEB3</a:t>
            </a:r>
            <a:endParaRPr sz="825" b="1">
              <a:solidFill>
                <a:srgbClr val="77807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-84"/>
          <p:cNvSpPr>
            <a:spLocks noGrp="1"/>
          </p:cNvSpPr>
          <p:nvPr/>
        </p:nvSpPr>
        <p:spPr>
          <a:xfrm>
            <a:off x="113728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77807E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77807E"/>
                </a:solidFill>
                <a:latin typeface="Azeret Mono"/>
                <a:ea typeface="Azeret Mono"/>
                <a:cs typeface="Azeret Mono"/>
              </a:rPr>
              <a:t>05</a:t>
            </a:r>
            <a:endParaRPr sz="900" b="1">
              <a:solidFill>
                <a:srgbClr val="77807E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7" name="line-85"/>
          <p:cNvSpPr>
            <a:spLocks noGrp="1"/>
          </p:cNvSpPr>
          <p:nvPr/>
        </p:nvSpPr>
        <p:spPr>
          <a:xfrm>
            <a:off x="3714750" y="3171825"/>
            <a:ext cx="495300" cy="0"/>
          </a:xfrm>
          <a:prstGeom prst="line">
            <a:avLst/>
          </a:prstGeom>
          <a:noFill/>
          <a:ln w="28575">
            <a:solidFill>
              <a:srgbClr val="6E3FC8"/>
            </a:solidFill>
            <a:prstDash val="solid"/>
          </a:ln>
        </p:spPr>
      </p:sp>
      <p:sp>
        <p:nvSpPr>
          <p:cNvPr id="8" name="line-86"/>
          <p:cNvSpPr>
            <a:spLocks noGrp="1"/>
          </p:cNvSpPr>
          <p:nvPr/>
        </p:nvSpPr>
        <p:spPr>
          <a:xfrm>
            <a:off x="7239000" y="3171825"/>
            <a:ext cx="495300" cy="0"/>
          </a:xfrm>
          <a:prstGeom prst="line">
            <a:avLst/>
          </a:prstGeom>
          <a:noFill/>
          <a:ln w="28575">
            <a:solidFill>
              <a:srgbClr val="6E3FC8"/>
            </a:solidFill>
            <a:prstDash val="solid"/>
          </a:ln>
        </p:spPr>
      </p:sp>
      <p:sp>
        <p:nvSpPr>
          <p:cNvPr id="9" name="rect-87"/>
          <p:cNvSpPr>
            <a:spLocks noGrp="1"/>
          </p:cNvSpPr>
          <p:nvPr/>
        </p:nvSpPr>
        <p:spPr>
          <a:xfrm>
            <a:off x="685800" y="2076450"/>
            <a:ext cx="3028950" cy="2667000"/>
          </a:xfrm>
          <a:prstGeom prst="roundRect">
            <a:avLst>
              <a:gd name="adj" fmla="val 4286"/>
            </a:avLst>
          </a:prstGeom>
          <a:solidFill>
            <a:srgbClr val="0E1418"/>
          </a:solidFill>
          <a:ln w="9525">
            <a:solidFill>
              <a:srgbClr val="263036"/>
            </a:solidFill>
            <a:prstDash val="solid"/>
          </a:ln>
        </p:spPr>
      </p:sp>
      <p:sp>
        <p:nvSpPr>
          <p:cNvPr id="10" name="text-88"/>
          <p:cNvSpPr>
            <a:spLocks noGrp="1"/>
          </p:cNvSpPr>
          <p:nvPr/>
        </p:nvSpPr>
        <p:spPr>
          <a:xfrm>
            <a:off x="895350" y="22669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72CFFF"/>
                </a:solidFill>
                <a:latin typeface="Azeret Mono"/>
                <a:ea typeface="Azeret Mono"/>
                <a:cs typeface="Azeret Mono"/>
              </a:defRPr>
            </a:pPr>
            <a:r>
              <a:rPr sz="1275" b="1">
                <a:solidFill>
                  <a:srgbClr val="72CFFF"/>
                </a:solidFill>
                <a:latin typeface="Azeret Mono"/>
                <a:ea typeface="Azeret Mono"/>
                <a:cs typeface="Azeret Mono"/>
              </a:rPr>
              <a:t>01</a:t>
            </a:r>
            <a:endParaRPr sz="1275" b="1">
              <a:solidFill>
                <a:srgbClr val="72CFFF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1" name="text-89"/>
          <p:cNvSpPr>
            <a:spLocks noGrp="1"/>
          </p:cNvSpPr>
          <p:nvPr/>
        </p:nvSpPr>
        <p:spPr>
          <a:xfrm>
            <a:off x="895350" y="27051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DocAgent</a:t>
            </a:r>
            <a:endParaRPr sz="217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-90"/>
          <p:cNvSpPr>
            <a:spLocks noGrp="1"/>
          </p:cNvSpPr>
          <p:nvPr/>
        </p:nvSpPr>
        <p:spPr>
          <a:xfrm>
            <a:off x="895350" y="31432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72C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2C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提取可验证声明</a:t>
            </a:r>
            <a:endParaRPr sz="1350" b="1">
              <a:solidFill>
                <a:srgbClr val="72C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line-91"/>
          <p:cNvSpPr>
            <a:spLocks noGrp="1"/>
          </p:cNvSpPr>
          <p:nvPr/>
        </p:nvSpPr>
        <p:spPr>
          <a:xfrm>
            <a:off x="895350" y="3543300"/>
            <a:ext cx="260985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14" name="text-92"/>
          <p:cNvSpPr>
            <a:spLocks noGrp="1"/>
          </p:cNvSpPr>
          <p:nvPr/>
        </p:nvSpPr>
        <p:spPr>
          <a:xfrm>
            <a:off x="895350" y="3771900"/>
            <a:ext cx="257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4000"/>
              </a:lnSpc>
              <a:buNone/>
              <a:def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审计声明、收益承诺等</a:t>
            </a:r>
            <a:endParaRPr sz="1200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ect-93"/>
          <p:cNvSpPr>
            <a:spLocks noGrp="1"/>
          </p:cNvSpPr>
          <p:nvPr/>
        </p:nvSpPr>
        <p:spPr>
          <a:xfrm>
            <a:off x="4210050" y="2076450"/>
            <a:ext cx="3028950" cy="2667000"/>
          </a:xfrm>
          <a:prstGeom prst="roundRect">
            <a:avLst>
              <a:gd name="adj" fmla="val 4286"/>
            </a:avLst>
          </a:prstGeom>
          <a:solidFill>
            <a:srgbClr val="0E1418"/>
          </a:solidFill>
          <a:ln w="9525">
            <a:solidFill>
              <a:srgbClr val="263036"/>
            </a:solidFill>
            <a:prstDash val="solid"/>
          </a:ln>
        </p:spPr>
      </p:sp>
      <p:sp>
        <p:nvSpPr>
          <p:cNvPr id="16" name="text-94"/>
          <p:cNvSpPr>
            <a:spLocks noGrp="1"/>
          </p:cNvSpPr>
          <p:nvPr/>
        </p:nvSpPr>
        <p:spPr>
          <a:xfrm>
            <a:off x="4419600" y="22669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A879FF"/>
                </a:solidFill>
                <a:latin typeface="Azeret Mono"/>
                <a:ea typeface="Azeret Mono"/>
                <a:cs typeface="Azeret Mono"/>
              </a:defRPr>
            </a:pPr>
            <a:r>
              <a:rPr sz="1275" b="1">
                <a:solidFill>
                  <a:srgbClr val="A879FF"/>
                </a:solidFill>
                <a:latin typeface="Azeret Mono"/>
                <a:ea typeface="Azeret Mono"/>
                <a:cs typeface="Azeret Mono"/>
              </a:rPr>
              <a:t>02</a:t>
            </a:r>
            <a:endParaRPr sz="1275" b="1">
              <a:solidFill>
                <a:srgbClr val="A879FF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7" name="text-95"/>
          <p:cNvSpPr>
            <a:spLocks noGrp="1"/>
          </p:cNvSpPr>
          <p:nvPr/>
        </p:nvSpPr>
        <p:spPr>
          <a:xfrm>
            <a:off x="4419600" y="27051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CrossCheckAgent</a:t>
            </a:r>
            <a:endParaRPr sz="217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-96"/>
          <p:cNvSpPr>
            <a:spLocks noGrp="1"/>
          </p:cNvSpPr>
          <p:nvPr/>
        </p:nvSpPr>
        <p:spPr>
          <a:xfrm>
            <a:off x="4419600" y="31432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文档 × 链上事实</a:t>
            </a:r>
            <a:endParaRPr sz="1350" b="1">
              <a:solidFill>
                <a:srgbClr val="A87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line-97"/>
          <p:cNvSpPr>
            <a:spLocks noGrp="1"/>
          </p:cNvSpPr>
          <p:nvPr/>
        </p:nvSpPr>
        <p:spPr>
          <a:xfrm>
            <a:off x="4419600" y="3543300"/>
            <a:ext cx="260985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20" name="text-98"/>
          <p:cNvSpPr>
            <a:spLocks noGrp="1"/>
          </p:cNvSpPr>
          <p:nvPr/>
        </p:nvSpPr>
        <p:spPr>
          <a:xfrm>
            <a:off x="4419600" y="3771900"/>
            <a:ext cx="257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4000"/>
              </a:lnSpc>
              <a:buNone/>
              <a:def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定位分配、TimeLock、流动性、源码、资金流等矛盾</a:t>
            </a:r>
            <a:endParaRPr sz="1200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ect-99"/>
          <p:cNvSpPr>
            <a:spLocks noGrp="1"/>
          </p:cNvSpPr>
          <p:nvPr/>
        </p:nvSpPr>
        <p:spPr>
          <a:xfrm>
            <a:off x="7734300" y="2076450"/>
            <a:ext cx="3028950" cy="2667000"/>
          </a:xfrm>
          <a:prstGeom prst="roundRect">
            <a:avLst>
              <a:gd name="adj" fmla="val 4286"/>
            </a:avLst>
          </a:prstGeom>
          <a:solidFill>
            <a:srgbClr val="0E1418"/>
          </a:solidFill>
          <a:ln w="9525">
            <a:solidFill>
              <a:srgbClr val="263036"/>
            </a:solidFill>
            <a:prstDash val="solid"/>
          </a:ln>
        </p:spPr>
      </p:sp>
      <p:sp>
        <p:nvSpPr>
          <p:cNvPr id="22" name="text-100"/>
          <p:cNvSpPr>
            <a:spLocks noGrp="1"/>
          </p:cNvSpPr>
          <p:nvPr/>
        </p:nvSpPr>
        <p:spPr>
          <a:xfrm>
            <a:off x="7943850" y="22669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FF5465"/>
                </a:solidFill>
                <a:latin typeface="Azeret Mono"/>
                <a:ea typeface="Azeret Mono"/>
                <a:cs typeface="Azeret Mono"/>
              </a:defRPr>
            </a:pPr>
            <a:r>
              <a:rPr sz="1275" b="1">
                <a:solidFill>
                  <a:srgbClr val="FF5465"/>
                </a:solidFill>
                <a:latin typeface="Azeret Mono"/>
                <a:ea typeface="Azeret Mono"/>
                <a:cs typeface="Azeret Mono"/>
              </a:rPr>
              <a:t>03</a:t>
            </a:r>
            <a:endParaRPr sz="1275" b="1">
              <a:solidFill>
                <a:srgbClr val="FF5465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23" name="text-101"/>
          <p:cNvSpPr>
            <a:spLocks noGrp="1"/>
          </p:cNvSpPr>
          <p:nvPr/>
        </p:nvSpPr>
        <p:spPr>
          <a:xfrm>
            <a:off x="7943850" y="27051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RiskAgent</a:t>
            </a:r>
            <a:endParaRPr sz="217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-102"/>
          <p:cNvSpPr>
            <a:spLocks noGrp="1"/>
          </p:cNvSpPr>
          <p:nvPr/>
        </p:nvSpPr>
        <p:spPr>
          <a:xfrm>
            <a:off x="7943850" y="31432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F546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546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加权评分与解释</a:t>
            </a:r>
            <a:endParaRPr sz="1350" b="1">
              <a:solidFill>
                <a:srgbClr val="FF546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line-103"/>
          <p:cNvSpPr>
            <a:spLocks noGrp="1"/>
          </p:cNvSpPr>
          <p:nvPr/>
        </p:nvSpPr>
        <p:spPr>
          <a:xfrm>
            <a:off x="7943850" y="3543300"/>
            <a:ext cx="260985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26" name="text-104"/>
          <p:cNvSpPr>
            <a:spLocks noGrp="1"/>
          </p:cNvSpPr>
          <p:nvPr/>
        </p:nvSpPr>
        <p:spPr>
          <a:xfrm>
            <a:off x="7943850" y="3771900"/>
            <a:ext cx="257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4000"/>
              </a:lnSpc>
              <a:buNone/>
              <a:def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按严重度与规则权重输出 risk score、level、reasons</a:t>
            </a:r>
            <a:endParaRPr sz="1200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text-105"/>
          <p:cNvSpPr>
            <a:spLocks noGrp="1"/>
          </p:cNvSpPr>
          <p:nvPr/>
        </p:nvSpPr>
        <p:spPr>
          <a:xfrm>
            <a:off x="3771900" y="327660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2250" b="1">
              <a:solidFill>
                <a:srgbClr val="A87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-106"/>
          <p:cNvSpPr>
            <a:spLocks noGrp="1"/>
          </p:cNvSpPr>
          <p:nvPr/>
        </p:nvSpPr>
        <p:spPr>
          <a:xfrm>
            <a:off x="7296150" y="327025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2250" b="1">
              <a:solidFill>
                <a:srgbClr val="A87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rect-107"/>
          <p:cNvSpPr>
            <a:spLocks noGrp="1"/>
          </p:cNvSpPr>
          <p:nvPr/>
        </p:nvSpPr>
        <p:spPr>
          <a:xfrm>
            <a:off x="685800" y="5105400"/>
            <a:ext cx="10077450" cy="990600"/>
          </a:xfrm>
          <a:prstGeom prst="roundRect">
            <a:avLst>
              <a:gd name="adj" fmla="val 9615"/>
            </a:avLst>
          </a:prstGeom>
          <a:solidFill>
            <a:srgbClr val="131A1F"/>
          </a:solidFill>
          <a:ln w="9525">
            <a:solidFill>
              <a:srgbClr val="263036"/>
            </a:solidFill>
            <a:prstDash val="solid"/>
          </a:ln>
        </p:spPr>
      </p:sp>
      <p:sp>
        <p:nvSpPr>
          <p:cNvPr id="30" name="rect-108"/>
          <p:cNvSpPr>
            <a:spLocks noGrp="1"/>
          </p:cNvSpPr>
          <p:nvPr/>
        </p:nvSpPr>
        <p:spPr>
          <a:xfrm>
            <a:off x="876300" y="5295900"/>
            <a:ext cx="1200150" cy="266700"/>
          </a:xfrm>
          <a:prstGeom prst="roundRect">
            <a:avLst>
              <a:gd name="adj" fmla="val 50000"/>
            </a:avLst>
          </a:prstGeom>
          <a:solidFill>
            <a:srgbClr val="21162E"/>
          </a:solidFill>
          <a:ln w="9525">
            <a:solidFill>
              <a:srgbClr val="6E3FC8"/>
            </a:solidFill>
            <a:prstDash val="solid"/>
          </a:ln>
        </p:spPr>
        <p:txBody>
          <a:bodyPr lIns="76200" tIns="19050" rIns="76200" bIns="19050" anchor="ctr">
            <a:normAutofit/>
          </a:bodyPr>
          <a:lstStyle/>
          <a:p>
            <a:pPr algn="ctr">
              <a:defRPr sz="9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OPTIONAL LLM</a:t>
            </a:r>
            <a:endParaRPr sz="900" b="1">
              <a:solidFill>
                <a:srgbClr val="A87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text-109"/>
          <p:cNvSpPr>
            <a:spLocks noGrp="1"/>
          </p:cNvSpPr>
          <p:nvPr/>
        </p:nvSpPr>
        <p:spPr>
          <a:xfrm>
            <a:off x="2286000" y="5314950"/>
            <a:ext cx="802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DeepSeek 仅负责文档结构化解析；交叉校验与风险评分继续使用确定性规则。</a:t>
            </a:r>
            <a:endParaRPr sz="1350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text-110"/>
          <p:cNvSpPr>
            <a:spLocks noGrp="1"/>
          </p:cNvSpPr>
          <p:nvPr/>
        </p:nvSpPr>
        <p:spPr>
          <a:xfrm>
            <a:off x="2286000" y="5676900"/>
            <a:ext cx="802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无 API Key、超时或外部服务不可用时，系统自动回退并明确标注数据来源。</a:t>
            </a:r>
            <a:endParaRPr sz="1200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111"/>
          <p:cNvSpPr>
            <a:spLocks noGrp="1"/>
          </p:cNvSpPr>
          <p:nvPr/>
        </p:nvSpPr>
        <p:spPr>
          <a:xfrm>
            <a:off x="495300" y="381000"/>
            <a:ext cx="590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PROOF BY DESIGN</a:t>
            </a:r>
            <a:endParaRPr sz="90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112"/>
          <p:cNvSpPr>
            <a:spLocks noGrp="1"/>
          </p:cNvSpPr>
          <p:nvPr/>
        </p:nvSpPr>
        <p:spPr>
          <a:xfrm>
            <a:off x="495300" y="60960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0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可验证性不是附加功能，而是系统主干</a:t>
            </a:r>
            <a:endParaRPr sz="300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line-113"/>
          <p:cNvSpPr>
            <a:spLocks noGrp="1"/>
          </p:cNvSpPr>
          <p:nvPr/>
        </p:nvSpPr>
        <p:spPr>
          <a:xfrm>
            <a:off x="495300" y="1257300"/>
            <a:ext cx="1120140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5" name="text-114"/>
          <p:cNvSpPr>
            <a:spLocks noGrp="1"/>
          </p:cNvSpPr>
          <p:nvPr/>
        </p:nvSpPr>
        <p:spPr>
          <a:xfrm>
            <a:off x="495300" y="65151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777A7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777A7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FLUXAUDIT · AI × WEB3</a:t>
            </a:r>
            <a:endParaRPr sz="825" b="1">
              <a:solidFill>
                <a:srgbClr val="777A7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-115"/>
          <p:cNvSpPr>
            <a:spLocks noGrp="1"/>
          </p:cNvSpPr>
          <p:nvPr/>
        </p:nvSpPr>
        <p:spPr>
          <a:xfrm>
            <a:off x="113728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777A74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777A74"/>
                </a:solidFill>
                <a:latin typeface="Azeret Mono"/>
                <a:ea typeface="Azeret Mono"/>
                <a:cs typeface="Azeret Mono"/>
              </a:rPr>
              <a:t>06</a:t>
            </a:r>
            <a:endParaRPr sz="900" b="1">
              <a:solidFill>
                <a:srgbClr val="777A74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7" name="line-116"/>
          <p:cNvSpPr>
            <a:spLocks noGrp="1"/>
          </p:cNvSpPr>
          <p:nvPr/>
        </p:nvSpPr>
        <p:spPr>
          <a:xfrm>
            <a:off x="962025" y="2647950"/>
            <a:ext cx="8972550" cy="0"/>
          </a:xfrm>
          <a:prstGeom prst="line">
            <a:avLst/>
          </a:prstGeom>
          <a:noFill/>
          <a:ln w="28575">
            <a:solidFill>
              <a:srgbClr val="AFA79A"/>
            </a:solidFill>
            <a:prstDash val="solid"/>
          </a:ln>
        </p:spPr>
      </p:sp>
      <p:sp>
        <p:nvSpPr>
          <p:cNvPr id="8" name="text-117"/>
          <p:cNvSpPr>
            <a:spLocks noGrp="1"/>
          </p:cNvSpPr>
          <p:nvPr/>
        </p:nvSpPr>
        <p:spPr>
          <a:xfrm>
            <a:off x="1533525" y="233299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65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text-118"/>
          <p:cNvSpPr>
            <a:spLocks noGrp="1"/>
          </p:cNvSpPr>
          <p:nvPr/>
        </p:nvSpPr>
        <p:spPr>
          <a:xfrm>
            <a:off x="3028950" y="233299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65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119"/>
          <p:cNvSpPr>
            <a:spLocks noGrp="1"/>
          </p:cNvSpPr>
          <p:nvPr/>
        </p:nvSpPr>
        <p:spPr>
          <a:xfrm>
            <a:off x="4524375" y="233299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65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-120"/>
          <p:cNvSpPr>
            <a:spLocks noGrp="1"/>
          </p:cNvSpPr>
          <p:nvPr/>
        </p:nvSpPr>
        <p:spPr>
          <a:xfrm>
            <a:off x="6019800" y="233299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65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-121"/>
          <p:cNvSpPr>
            <a:spLocks noGrp="1"/>
          </p:cNvSpPr>
          <p:nvPr/>
        </p:nvSpPr>
        <p:spPr>
          <a:xfrm>
            <a:off x="7515225" y="233299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65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122"/>
          <p:cNvSpPr>
            <a:spLocks noGrp="1"/>
          </p:cNvSpPr>
          <p:nvPr/>
        </p:nvSpPr>
        <p:spPr>
          <a:xfrm>
            <a:off x="9010650" y="233299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65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ect-123"/>
          <p:cNvSpPr>
            <a:spLocks noGrp="1"/>
          </p:cNvSpPr>
          <p:nvPr/>
        </p:nvSpPr>
        <p:spPr>
          <a:xfrm>
            <a:off x="628650" y="2266950"/>
            <a:ext cx="704850" cy="704850"/>
          </a:xfrm>
          <a:prstGeom prst="ellipse">
            <a:avLst/>
          </a:prstGeom>
          <a:solidFill>
            <a:srgbClr val="F2EEE4"/>
          </a:solidFill>
          <a:ln w="28575">
            <a:solidFill>
              <a:srgbClr val="6E3FC8"/>
            </a:solidFill>
            <a:prstDash val="solid"/>
          </a:ln>
        </p:spPr>
      </p:sp>
      <p:sp>
        <p:nvSpPr>
          <p:cNvPr id="15" name="text-124"/>
          <p:cNvSpPr>
            <a:spLocks noGrp="1"/>
          </p:cNvSpPr>
          <p:nvPr/>
        </p:nvSpPr>
        <p:spPr>
          <a:xfrm>
            <a:off x="628650" y="2447925"/>
            <a:ext cx="70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65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125"/>
          <p:cNvSpPr>
            <a:spLocks noGrp="1"/>
          </p:cNvSpPr>
          <p:nvPr/>
        </p:nvSpPr>
        <p:spPr>
          <a:xfrm>
            <a:off x="419100" y="3105150"/>
            <a:ext cx="1123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0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Input</a:t>
            </a:r>
            <a:endParaRPr sz="105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-126"/>
          <p:cNvSpPr>
            <a:spLocks noGrp="1"/>
          </p:cNvSpPr>
          <p:nvPr/>
        </p:nvSpPr>
        <p:spPr>
          <a:xfrm>
            <a:off x="704850" y="3467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00" b="0">
                <a:solidFill>
                  <a:srgbClr val="5C615E"/>
                </a:solidFill>
                <a:latin typeface="Azeret Mono"/>
                <a:ea typeface="Azeret Mono"/>
                <a:cs typeface="Azeret Mono"/>
              </a:defRPr>
            </a:pPr>
            <a:r>
              <a:rPr sz="900" b="0">
                <a:solidFill>
                  <a:srgbClr val="5C615E"/>
                </a:solidFill>
                <a:latin typeface="Azeret Mono"/>
                <a:ea typeface="Azeret Mono"/>
                <a:cs typeface="Azeret Mono"/>
              </a:rPr>
              <a:t>H0</a:t>
            </a:r>
            <a:endParaRPr sz="900" b="0">
              <a:solidFill>
                <a:srgbClr val="5C615E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8" name="rect-127"/>
          <p:cNvSpPr>
            <a:spLocks noGrp="1"/>
          </p:cNvSpPr>
          <p:nvPr/>
        </p:nvSpPr>
        <p:spPr>
          <a:xfrm>
            <a:off x="2124075" y="2266950"/>
            <a:ext cx="704850" cy="704850"/>
          </a:xfrm>
          <a:prstGeom prst="ellipse">
            <a:avLst/>
          </a:prstGeom>
          <a:solidFill>
            <a:srgbClr val="F2EEE4"/>
          </a:solidFill>
          <a:ln w="28575">
            <a:solidFill>
              <a:srgbClr val="6E3FC8"/>
            </a:solidFill>
            <a:prstDash val="solid"/>
          </a:ln>
        </p:spPr>
      </p:sp>
      <p:sp>
        <p:nvSpPr>
          <p:cNvPr id="19" name="text-128"/>
          <p:cNvSpPr>
            <a:spLocks noGrp="1"/>
          </p:cNvSpPr>
          <p:nvPr/>
        </p:nvSpPr>
        <p:spPr>
          <a:xfrm>
            <a:off x="2124075" y="2447925"/>
            <a:ext cx="70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65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-129"/>
          <p:cNvSpPr>
            <a:spLocks noGrp="1"/>
          </p:cNvSpPr>
          <p:nvPr/>
        </p:nvSpPr>
        <p:spPr>
          <a:xfrm>
            <a:off x="1914525" y="3105150"/>
            <a:ext cx="1123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0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Chain</a:t>
            </a:r>
            <a:endParaRPr sz="105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-130"/>
          <p:cNvSpPr>
            <a:spLocks noGrp="1"/>
          </p:cNvSpPr>
          <p:nvPr/>
        </p:nvSpPr>
        <p:spPr>
          <a:xfrm>
            <a:off x="2200275" y="3467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00" b="0">
                <a:solidFill>
                  <a:srgbClr val="5C615E"/>
                </a:solidFill>
                <a:latin typeface="Azeret Mono"/>
                <a:ea typeface="Azeret Mono"/>
                <a:cs typeface="Azeret Mono"/>
              </a:defRPr>
            </a:pPr>
            <a:r>
              <a:rPr sz="900" b="0">
                <a:solidFill>
                  <a:srgbClr val="5C615E"/>
                </a:solidFill>
                <a:latin typeface="Azeret Mono"/>
                <a:ea typeface="Azeret Mono"/>
                <a:cs typeface="Azeret Mono"/>
              </a:rPr>
              <a:t>H1</a:t>
            </a:r>
            <a:endParaRPr sz="900" b="0">
              <a:solidFill>
                <a:srgbClr val="5C615E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22" name="rect-131"/>
          <p:cNvSpPr>
            <a:spLocks noGrp="1"/>
          </p:cNvSpPr>
          <p:nvPr/>
        </p:nvSpPr>
        <p:spPr>
          <a:xfrm>
            <a:off x="3619500" y="2266950"/>
            <a:ext cx="704850" cy="704850"/>
          </a:xfrm>
          <a:prstGeom prst="ellipse">
            <a:avLst/>
          </a:prstGeom>
          <a:solidFill>
            <a:srgbClr val="F2EEE4"/>
          </a:solidFill>
          <a:ln w="28575">
            <a:solidFill>
              <a:srgbClr val="6E3FC8"/>
            </a:solidFill>
            <a:prstDash val="solid"/>
          </a:ln>
        </p:spPr>
      </p:sp>
      <p:sp>
        <p:nvSpPr>
          <p:cNvPr id="23" name="text-132"/>
          <p:cNvSpPr>
            <a:spLocks noGrp="1"/>
          </p:cNvSpPr>
          <p:nvPr/>
        </p:nvSpPr>
        <p:spPr>
          <a:xfrm>
            <a:off x="3619500" y="2447925"/>
            <a:ext cx="70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65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-133"/>
          <p:cNvSpPr>
            <a:spLocks noGrp="1"/>
          </p:cNvSpPr>
          <p:nvPr/>
        </p:nvSpPr>
        <p:spPr>
          <a:xfrm>
            <a:off x="3409950" y="3105150"/>
            <a:ext cx="1123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0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Document</a:t>
            </a:r>
            <a:endParaRPr sz="105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-134"/>
          <p:cNvSpPr>
            <a:spLocks noGrp="1"/>
          </p:cNvSpPr>
          <p:nvPr/>
        </p:nvSpPr>
        <p:spPr>
          <a:xfrm>
            <a:off x="3695700" y="3467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00" b="0">
                <a:solidFill>
                  <a:srgbClr val="5C615E"/>
                </a:solidFill>
                <a:latin typeface="Azeret Mono"/>
                <a:ea typeface="Azeret Mono"/>
                <a:cs typeface="Azeret Mono"/>
              </a:defRPr>
            </a:pPr>
            <a:r>
              <a:rPr sz="900" b="0">
                <a:solidFill>
                  <a:srgbClr val="5C615E"/>
                </a:solidFill>
                <a:latin typeface="Azeret Mono"/>
                <a:ea typeface="Azeret Mono"/>
                <a:cs typeface="Azeret Mono"/>
              </a:rPr>
              <a:t>H2</a:t>
            </a:r>
            <a:endParaRPr sz="900" b="0">
              <a:solidFill>
                <a:srgbClr val="5C615E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26" name="rect-135"/>
          <p:cNvSpPr>
            <a:spLocks noGrp="1"/>
          </p:cNvSpPr>
          <p:nvPr/>
        </p:nvSpPr>
        <p:spPr>
          <a:xfrm>
            <a:off x="5114925" y="2266950"/>
            <a:ext cx="704850" cy="704850"/>
          </a:xfrm>
          <a:prstGeom prst="ellipse">
            <a:avLst/>
          </a:prstGeom>
          <a:solidFill>
            <a:srgbClr val="F2EEE4"/>
          </a:solidFill>
          <a:ln w="28575">
            <a:solidFill>
              <a:srgbClr val="6E3FC8"/>
            </a:solidFill>
            <a:prstDash val="solid"/>
          </a:ln>
        </p:spPr>
      </p:sp>
      <p:sp>
        <p:nvSpPr>
          <p:cNvPr id="27" name="text-136"/>
          <p:cNvSpPr>
            <a:spLocks noGrp="1"/>
          </p:cNvSpPr>
          <p:nvPr/>
        </p:nvSpPr>
        <p:spPr>
          <a:xfrm>
            <a:off x="5114925" y="2447925"/>
            <a:ext cx="70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165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-137"/>
          <p:cNvSpPr>
            <a:spLocks noGrp="1"/>
          </p:cNvSpPr>
          <p:nvPr/>
        </p:nvSpPr>
        <p:spPr>
          <a:xfrm>
            <a:off x="4905375" y="3105150"/>
            <a:ext cx="1123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0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Cross-check</a:t>
            </a:r>
            <a:endParaRPr sz="105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-138"/>
          <p:cNvSpPr>
            <a:spLocks noGrp="1"/>
          </p:cNvSpPr>
          <p:nvPr/>
        </p:nvSpPr>
        <p:spPr>
          <a:xfrm>
            <a:off x="5191125" y="3467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00" b="0">
                <a:solidFill>
                  <a:srgbClr val="5C615E"/>
                </a:solidFill>
                <a:latin typeface="Azeret Mono"/>
                <a:ea typeface="Azeret Mono"/>
                <a:cs typeface="Azeret Mono"/>
              </a:defRPr>
            </a:pPr>
            <a:r>
              <a:rPr sz="900" b="0">
                <a:solidFill>
                  <a:srgbClr val="5C615E"/>
                </a:solidFill>
                <a:latin typeface="Azeret Mono"/>
                <a:ea typeface="Azeret Mono"/>
                <a:cs typeface="Azeret Mono"/>
              </a:rPr>
              <a:t>H3</a:t>
            </a:r>
            <a:endParaRPr sz="900" b="0">
              <a:solidFill>
                <a:srgbClr val="5C615E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30" name="rect-139"/>
          <p:cNvSpPr>
            <a:spLocks noGrp="1"/>
          </p:cNvSpPr>
          <p:nvPr/>
        </p:nvSpPr>
        <p:spPr>
          <a:xfrm>
            <a:off x="6610350" y="2266950"/>
            <a:ext cx="704850" cy="704850"/>
          </a:xfrm>
          <a:prstGeom prst="ellipse">
            <a:avLst/>
          </a:prstGeom>
          <a:solidFill>
            <a:srgbClr val="F2EEE4"/>
          </a:solidFill>
          <a:ln w="28575">
            <a:solidFill>
              <a:srgbClr val="6E3FC8"/>
            </a:solidFill>
            <a:prstDash val="solid"/>
          </a:ln>
        </p:spPr>
      </p:sp>
      <p:sp>
        <p:nvSpPr>
          <p:cNvPr id="31" name="text-140"/>
          <p:cNvSpPr>
            <a:spLocks noGrp="1"/>
          </p:cNvSpPr>
          <p:nvPr/>
        </p:nvSpPr>
        <p:spPr>
          <a:xfrm>
            <a:off x="6610350" y="2447925"/>
            <a:ext cx="70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</a:t>
            </a:r>
            <a:endParaRPr sz="165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text-141"/>
          <p:cNvSpPr>
            <a:spLocks noGrp="1"/>
          </p:cNvSpPr>
          <p:nvPr/>
        </p:nvSpPr>
        <p:spPr>
          <a:xfrm>
            <a:off x="6400800" y="3105150"/>
            <a:ext cx="1123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0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Risk</a:t>
            </a:r>
            <a:endParaRPr sz="105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text-142"/>
          <p:cNvSpPr>
            <a:spLocks noGrp="1"/>
          </p:cNvSpPr>
          <p:nvPr/>
        </p:nvSpPr>
        <p:spPr>
          <a:xfrm>
            <a:off x="6686550" y="3467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00" b="0">
                <a:solidFill>
                  <a:srgbClr val="5C615E"/>
                </a:solidFill>
                <a:latin typeface="Azeret Mono"/>
                <a:ea typeface="Azeret Mono"/>
                <a:cs typeface="Azeret Mono"/>
              </a:defRPr>
            </a:pPr>
            <a:r>
              <a:rPr sz="900" b="0">
                <a:solidFill>
                  <a:srgbClr val="5C615E"/>
                </a:solidFill>
                <a:latin typeface="Azeret Mono"/>
                <a:ea typeface="Azeret Mono"/>
                <a:cs typeface="Azeret Mono"/>
              </a:rPr>
              <a:t>H4</a:t>
            </a:r>
            <a:endParaRPr sz="900" b="0">
              <a:solidFill>
                <a:srgbClr val="5C615E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34" name="rect-143"/>
          <p:cNvSpPr>
            <a:spLocks noGrp="1"/>
          </p:cNvSpPr>
          <p:nvPr/>
        </p:nvSpPr>
        <p:spPr>
          <a:xfrm>
            <a:off x="8105775" y="2266950"/>
            <a:ext cx="704850" cy="704850"/>
          </a:xfrm>
          <a:prstGeom prst="ellipse">
            <a:avLst/>
          </a:prstGeom>
          <a:solidFill>
            <a:srgbClr val="F2EEE4"/>
          </a:solidFill>
          <a:ln w="28575">
            <a:solidFill>
              <a:srgbClr val="6E3FC8"/>
            </a:solidFill>
            <a:prstDash val="solid"/>
          </a:ln>
        </p:spPr>
      </p:sp>
      <p:sp>
        <p:nvSpPr>
          <p:cNvPr id="35" name="text-144"/>
          <p:cNvSpPr>
            <a:spLocks noGrp="1"/>
          </p:cNvSpPr>
          <p:nvPr/>
        </p:nvSpPr>
        <p:spPr>
          <a:xfrm>
            <a:off x="8105775" y="2447925"/>
            <a:ext cx="70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</a:t>
            </a:r>
            <a:endParaRPr sz="165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text-145"/>
          <p:cNvSpPr>
            <a:spLocks noGrp="1"/>
          </p:cNvSpPr>
          <p:nvPr/>
        </p:nvSpPr>
        <p:spPr>
          <a:xfrm>
            <a:off x="7896225" y="3105150"/>
            <a:ext cx="1123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0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Report</a:t>
            </a:r>
            <a:endParaRPr sz="105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text-146"/>
          <p:cNvSpPr>
            <a:spLocks noGrp="1"/>
          </p:cNvSpPr>
          <p:nvPr/>
        </p:nvSpPr>
        <p:spPr>
          <a:xfrm>
            <a:off x="8181975" y="3467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00" b="0">
                <a:solidFill>
                  <a:srgbClr val="5C615E"/>
                </a:solidFill>
                <a:latin typeface="Azeret Mono"/>
                <a:ea typeface="Azeret Mono"/>
                <a:cs typeface="Azeret Mono"/>
              </a:defRPr>
            </a:pPr>
            <a:r>
              <a:rPr sz="900" b="0">
                <a:solidFill>
                  <a:srgbClr val="5C615E"/>
                </a:solidFill>
                <a:latin typeface="Azeret Mono"/>
                <a:ea typeface="Azeret Mono"/>
                <a:cs typeface="Azeret Mono"/>
              </a:rPr>
              <a:t>H5</a:t>
            </a:r>
            <a:endParaRPr sz="900" b="0">
              <a:solidFill>
                <a:srgbClr val="5C615E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38" name="rect-147"/>
          <p:cNvSpPr>
            <a:spLocks noGrp="1"/>
          </p:cNvSpPr>
          <p:nvPr/>
        </p:nvSpPr>
        <p:spPr>
          <a:xfrm>
            <a:off x="9601200" y="2266950"/>
            <a:ext cx="704850" cy="704850"/>
          </a:xfrm>
          <a:prstGeom prst="ellipse">
            <a:avLst/>
          </a:prstGeom>
          <a:solidFill>
            <a:srgbClr val="171A18"/>
          </a:solidFill>
          <a:ln w="28575">
            <a:solidFill>
              <a:srgbClr val="171A18"/>
            </a:solidFill>
            <a:prstDash val="solid"/>
          </a:ln>
        </p:spPr>
      </p:sp>
      <p:sp>
        <p:nvSpPr>
          <p:cNvPr id="39" name="text-148"/>
          <p:cNvSpPr>
            <a:spLocks noGrp="1"/>
          </p:cNvSpPr>
          <p:nvPr/>
        </p:nvSpPr>
        <p:spPr>
          <a:xfrm>
            <a:off x="9601200" y="2447925"/>
            <a:ext cx="70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</a:t>
            </a:r>
            <a:endParaRPr sz="1650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text-149"/>
          <p:cNvSpPr>
            <a:spLocks noGrp="1"/>
          </p:cNvSpPr>
          <p:nvPr/>
        </p:nvSpPr>
        <p:spPr>
          <a:xfrm>
            <a:off x="9391650" y="3105150"/>
            <a:ext cx="1123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0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Manifest</a:t>
            </a:r>
            <a:endParaRPr sz="105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text-150"/>
          <p:cNvSpPr>
            <a:spLocks noGrp="1"/>
          </p:cNvSpPr>
          <p:nvPr/>
        </p:nvSpPr>
        <p:spPr>
          <a:xfrm>
            <a:off x="9677400" y="3467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00" b="0">
                <a:solidFill>
                  <a:srgbClr val="5C615E"/>
                </a:solidFill>
                <a:latin typeface="Azeret Mono"/>
                <a:ea typeface="Azeret Mono"/>
                <a:cs typeface="Azeret Mono"/>
              </a:defRPr>
            </a:pPr>
            <a:r>
              <a:rPr sz="900" b="0">
                <a:solidFill>
                  <a:srgbClr val="5C615E"/>
                </a:solidFill>
                <a:latin typeface="Azeret Mono"/>
                <a:ea typeface="Azeret Mono"/>
                <a:cs typeface="Azeret Mono"/>
              </a:rPr>
              <a:t>H6</a:t>
            </a:r>
            <a:endParaRPr sz="900" b="0">
              <a:solidFill>
                <a:srgbClr val="5C615E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42" name="rect-151"/>
          <p:cNvSpPr>
            <a:spLocks noGrp="1"/>
          </p:cNvSpPr>
          <p:nvPr/>
        </p:nvSpPr>
        <p:spPr>
          <a:xfrm>
            <a:off x="628650" y="3924300"/>
            <a:ext cx="5219700" cy="1390650"/>
          </a:xfrm>
          <a:prstGeom prst="roundRect">
            <a:avLst>
              <a:gd name="adj" fmla="val 6849"/>
            </a:avLst>
          </a:prstGeom>
          <a:solidFill>
            <a:srgbClr val="171A18"/>
          </a:solidFill>
          <a:ln w="0">
            <a:solidFill>
              <a:srgbClr val="171A18"/>
            </a:solidFill>
            <a:prstDash val="solid"/>
          </a:ln>
        </p:spPr>
      </p:sp>
      <p:sp>
        <p:nvSpPr>
          <p:cNvPr id="43" name="text-152"/>
          <p:cNvSpPr>
            <a:spLocks noGrp="1"/>
          </p:cNvSpPr>
          <p:nvPr/>
        </p:nvSpPr>
        <p:spPr>
          <a:xfrm>
            <a:off x="857250" y="41338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逐步哈希链</a:t>
            </a:r>
            <a:endParaRPr sz="1650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text-153"/>
          <p:cNvSpPr>
            <a:spLocks noGrp="1"/>
          </p:cNvSpPr>
          <p:nvPr/>
        </p:nvSpPr>
        <p:spPr>
          <a:xfrm>
            <a:off x="857250" y="4572000"/>
            <a:ext cx="470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39D77D"/>
                </a:solidFill>
                <a:latin typeface="Azeret Mono"/>
                <a:ea typeface="Azeret Mono"/>
                <a:cs typeface="Azeret Mono"/>
              </a:defRPr>
            </a:pPr>
            <a:r>
              <a:rPr sz="1275" b="0">
                <a:solidFill>
                  <a:srgbClr val="39D77D"/>
                </a:solidFill>
                <a:latin typeface="Azeret Mono"/>
                <a:ea typeface="Azeret Mono"/>
                <a:cs typeface="Azeret Mono"/>
              </a:rPr>
              <a:t>Hᵢ = keccak256(Hᵢ₋₁ | contentᵢ | timestampᵢ)</a:t>
            </a:r>
            <a:endParaRPr sz="1275" b="0">
              <a:solidFill>
                <a:srgbClr val="39D77D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45" name="text-154"/>
          <p:cNvSpPr>
            <a:spLocks noGrp="1"/>
          </p:cNvSpPr>
          <p:nvPr/>
        </p:nvSpPr>
        <p:spPr>
          <a:xfrm>
            <a:off x="857250" y="49720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输入、输出、证据、来源与时间戳均可被独立重算</a:t>
            </a:r>
            <a:endParaRPr sz="1200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rect-155"/>
          <p:cNvSpPr>
            <a:spLocks noGrp="1"/>
          </p:cNvSpPr>
          <p:nvPr/>
        </p:nvSpPr>
        <p:spPr>
          <a:xfrm>
            <a:off x="6115050" y="3924300"/>
            <a:ext cx="5448300" cy="1390650"/>
          </a:xfrm>
          <a:prstGeom prst="roundRect">
            <a:avLst>
              <a:gd name="adj" fmla="val 6849"/>
            </a:avLst>
          </a:prstGeom>
          <a:solidFill>
            <a:srgbClr val="E8E1D5"/>
          </a:solidFill>
          <a:ln w="9525">
            <a:solidFill>
              <a:srgbClr val="CDC4B7"/>
            </a:solidFill>
            <a:prstDash val="solid"/>
          </a:ln>
        </p:spPr>
      </p:sp>
      <p:sp>
        <p:nvSpPr>
          <p:cNvPr id="47" name="text-156"/>
          <p:cNvSpPr>
            <a:spLocks noGrp="1"/>
          </p:cNvSpPr>
          <p:nvPr/>
        </p:nvSpPr>
        <p:spPr>
          <a:xfrm>
            <a:off x="6343650" y="4133850"/>
            <a:ext cx="489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七叶 Merkle Root  →  report hash</a:t>
            </a:r>
            <a:endParaRPr sz="165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text-157"/>
          <p:cNvSpPr>
            <a:spLocks noGrp="1"/>
          </p:cNvSpPr>
          <p:nvPr/>
        </p:nvSpPr>
        <p:spPr>
          <a:xfrm>
            <a:off x="6343650" y="4552950"/>
            <a:ext cx="476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4000"/>
              </a:lnSpc>
              <a:buNone/>
              <a:defRPr sz="120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 7 步承诺前 6 步顺序与业务报告正文；最终哈希保护证明数据，仅排除自身</a:t>
            </a:r>
            <a:endParaRPr sz="120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rect-158"/>
          <p:cNvSpPr>
            <a:spLocks noGrp="1"/>
          </p:cNvSpPr>
          <p:nvPr/>
        </p:nvSpPr>
        <p:spPr>
          <a:xfrm>
            <a:off x="628650" y="5619750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EDE5F8"/>
          </a:solidFill>
          <a:ln w="9525">
            <a:solidFill>
              <a:srgbClr val="C9B6E8"/>
            </a:solidFill>
            <a:prstDash val="solid"/>
          </a:ln>
        </p:spPr>
        <p:txBody>
          <a:bodyPr lIns="76200" tIns="19050" rIns="76200" bIns="19050" anchor="ctr">
            <a:normAutofit/>
          </a:bodyPr>
          <a:lstStyle/>
          <a:p>
            <a:pPr algn="ctr">
              <a:defRPr sz="90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OPTIONAL SEPOLIA</a:t>
            </a:r>
            <a:endParaRPr sz="90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text-159"/>
          <p:cNvSpPr>
            <a:spLocks noGrp="1"/>
          </p:cNvSpPr>
          <p:nvPr/>
        </p:nvSpPr>
        <p:spPr>
          <a:xfrm>
            <a:off x="2266950" y="5648325"/>
            <a:ext cx="862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链上存证独立于七步证明链；未配置真实部署时，界面明确显示 NOT CONFIGURED</a:t>
            </a:r>
            <a:endParaRPr sz="120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160"/>
          <p:cNvSpPr>
            <a:spLocks noGrp="1"/>
          </p:cNvSpPr>
          <p:nvPr/>
        </p:nvSpPr>
        <p:spPr>
          <a:xfrm>
            <a:off x="495300" y="381000"/>
            <a:ext cx="590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LIVE EXPERIENCE</a:t>
            </a:r>
            <a:endParaRPr sz="900" b="1">
              <a:solidFill>
                <a:srgbClr val="A87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161"/>
          <p:cNvSpPr>
            <a:spLocks noGrp="1"/>
          </p:cNvSpPr>
          <p:nvPr/>
        </p:nvSpPr>
        <p:spPr>
          <a:xfrm>
            <a:off x="495300" y="60960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0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执行过程就是可审查的证据现场</a:t>
            </a:r>
            <a:endParaRPr sz="3000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line-162"/>
          <p:cNvSpPr>
            <a:spLocks noGrp="1"/>
          </p:cNvSpPr>
          <p:nvPr/>
        </p:nvSpPr>
        <p:spPr>
          <a:xfrm>
            <a:off x="495300" y="1257300"/>
            <a:ext cx="1120140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5" name="text-163"/>
          <p:cNvSpPr>
            <a:spLocks noGrp="1"/>
          </p:cNvSpPr>
          <p:nvPr/>
        </p:nvSpPr>
        <p:spPr>
          <a:xfrm>
            <a:off x="495300" y="65151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77807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77807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FLUXAUDIT · AI × WEB3</a:t>
            </a:r>
            <a:endParaRPr sz="825" b="1">
              <a:solidFill>
                <a:srgbClr val="77807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-164"/>
          <p:cNvSpPr>
            <a:spLocks noGrp="1"/>
          </p:cNvSpPr>
          <p:nvPr/>
        </p:nvSpPr>
        <p:spPr>
          <a:xfrm>
            <a:off x="113728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77807E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77807E"/>
                </a:solidFill>
                <a:latin typeface="Azeret Mono"/>
                <a:ea typeface="Azeret Mono"/>
                <a:cs typeface="Azeret Mono"/>
              </a:rPr>
              <a:t>07</a:t>
            </a:r>
            <a:endParaRPr sz="900" b="1">
              <a:solidFill>
                <a:srgbClr val="77807E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7" name="text-165"/>
          <p:cNvSpPr>
            <a:spLocks noGrp="1"/>
          </p:cNvSpPr>
          <p:nvPr/>
        </p:nvSpPr>
        <p:spPr>
          <a:xfrm>
            <a:off x="495300" y="15621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评委现场应该注意三件事</a:t>
            </a:r>
            <a:endParaRPr sz="1650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-166"/>
          <p:cNvSpPr>
            <a:spLocks noGrp="1"/>
          </p:cNvSpPr>
          <p:nvPr/>
        </p:nvSpPr>
        <p:spPr>
          <a:xfrm>
            <a:off x="495300" y="21907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39D77D"/>
                </a:solidFill>
                <a:latin typeface="Azeret Mono"/>
                <a:ea typeface="Azeret Mono"/>
                <a:cs typeface="Azeret Mono"/>
              </a:defRPr>
            </a:pPr>
            <a:r>
              <a:rPr sz="1050" b="1">
                <a:solidFill>
                  <a:srgbClr val="39D77D"/>
                </a:solidFill>
                <a:latin typeface="Azeret Mono"/>
                <a:ea typeface="Azeret Mono"/>
                <a:cs typeface="Azeret Mono"/>
              </a:rPr>
              <a:t>01</a:t>
            </a:r>
            <a:endParaRPr sz="1050" b="1">
              <a:solidFill>
                <a:srgbClr val="39D77D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9" name="text-167"/>
          <p:cNvSpPr>
            <a:spLocks noGrp="1"/>
          </p:cNvSpPr>
          <p:nvPr/>
        </p:nvSpPr>
        <p:spPr>
          <a:xfrm>
            <a:off x="1104900" y="21717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 / 7 阶段实时到达</a:t>
            </a:r>
            <a:endParaRPr sz="1500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168"/>
          <p:cNvSpPr>
            <a:spLocks noGrp="1"/>
          </p:cNvSpPr>
          <p:nvPr/>
        </p:nvSpPr>
        <p:spPr>
          <a:xfrm>
            <a:off x="1104900" y="25146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SSE 显示明确完成或失败终态。</a:t>
            </a:r>
            <a:endParaRPr sz="1200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line-169"/>
          <p:cNvSpPr>
            <a:spLocks noGrp="1"/>
          </p:cNvSpPr>
          <p:nvPr/>
        </p:nvSpPr>
        <p:spPr>
          <a:xfrm>
            <a:off x="495300" y="3086100"/>
            <a:ext cx="346710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12" name="text-170"/>
          <p:cNvSpPr>
            <a:spLocks noGrp="1"/>
          </p:cNvSpPr>
          <p:nvPr/>
        </p:nvSpPr>
        <p:spPr>
          <a:xfrm>
            <a:off x="495300" y="33337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A879FF"/>
                </a:solidFill>
                <a:latin typeface="Azeret Mono"/>
                <a:ea typeface="Azeret Mono"/>
                <a:cs typeface="Azeret Mono"/>
              </a:defRPr>
            </a:pPr>
            <a:r>
              <a:rPr sz="1050" b="1">
                <a:solidFill>
                  <a:srgbClr val="A879FF"/>
                </a:solidFill>
                <a:latin typeface="Azeret Mono"/>
                <a:ea typeface="Azeret Mono"/>
                <a:cs typeface="Azeret Mono"/>
              </a:rPr>
              <a:t>02</a:t>
            </a:r>
            <a:endParaRPr sz="1050" b="1">
              <a:solidFill>
                <a:srgbClr val="A879FF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3" name="text-171"/>
          <p:cNvSpPr>
            <a:spLocks noGrp="1"/>
          </p:cNvSpPr>
          <p:nvPr/>
        </p:nvSpPr>
        <p:spPr>
          <a:xfrm>
            <a:off x="1104900" y="33147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每步带来源与哈希</a:t>
            </a:r>
            <a:endParaRPr sz="1500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-172"/>
          <p:cNvSpPr>
            <a:spLocks noGrp="1"/>
          </p:cNvSpPr>
          <p:nvPr/>
        </p:nvSpPr>
        <p:spPr>
          <a:xfrm>
            <a:off x="1104900" y="36576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公开输入、输出、证据、时间戳。</a:t>
            </a:r>
            <a:endParaRPr sz="1200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line-173"/>
          <p:cNvSpPr>
            <a:spLocks noGrp="1"/>
          </p:cNvSpPr>
          <p:nvPr/>
        </p:nvSpPr>
        <p:spPr>
          <a:xfrm>
            <a:off x="495300" y="4229100"/>
            <a:ext cx="346710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16" name="text-174"/>
          <p:cNvSpPr>
            <a:spLocks noGrp="1"/>
          </p:cNvSpPr>
          <p:nvPr/>
        </p:nvSpPr>
        <p:spPr>
          <a:xfrm>
            <a:off x="495300" y="44767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72CFFF"/>
                </a:solidFill>
                <a:latin typeface="Azeret Mono"/>
                <a:ea typeface="Azeret Mono"/>
                <a:cs typeface="Azeret Mono"/>
              </a:defRPr>
            </a:pPr>
            <a:r>
              <a:rPr sz="1050" b="1">
                <a:solidFill>
                  <a:srgbClr val="72CFFF"/>
                </a:solidFill>
                <a:latin typeface="Azeret Mono"/>
                <a:ea typeface="Azeret Mono"/>
                <a:cs typeface="Azeret Mono"/>
              </a:rPr>
              <a:t>03</a:t>
            </a:r>
            <a:endParaRPr sz="1050" b="1">
              <a:solidFill>
                <a:srgbClr val="72CFFF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7" name="text-175"/>
          <p:cNvSpPr>
            <a:spLocks noGrp="1"/>
          </p:cNvSpPr>
          <p:nvPr/>
        </p:nvSpPr>
        <p:spPr>
          <a:xfrm>
            <a:off x="1104900" y="44577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#06 → #07 精确交接</a:t>
            </a:r>
            <a:endParaRPr sz="1500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-176"/>
          <p:cNvSpPr>
            <a:spLocks noGrp="1"/>
          </p:cNvSpPr>
          <p:nvPr/>
        </p:nvSpPr>
        <p:spPr>
          <a:xfrm>
            <a:off x="1104900" y="48006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step_hash 与下一步 prev_hash 一致。</a:t>
            </a:r>
            <a:endParaRPr sz="1200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line-177"/>
          <p:cNvSpPr>
            <a:spLocks noGrp="1"/>
          </p:cNvSpPr>
          <p:nvPr/>
        </p:nvSpPr>
        <p:spPr>
          <a:xfrm>
            <a:off x="495300" y="5372100"/>
            <a:ext cx="346710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20" name="rect-178"/>
          <p:cNvSpPr>
            <a:spLocks noGrp="1"/>
          </p:cNvSpPr>
          <p:nvPr/>
        </p:nvSpPr>
        <p:spPr>
          <a:xfrm>
            <a:off x="495300" y="573405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0B1D12"/>
          </a:solidFill>
          <a:ln w="9525">
            <a:solidFill>
              <a:srgbClr val="235B39"/>
            </a:solidFill>
            <a:prstDash val="solid"/>
          </a:ln>
        </p:spPr>
        <p:txBody>
          <a:bodyPr lIns="76200" tIns="19050" rIns="76200" bIns="19050" anchor="ctr">
            <a:normAutofit/>
          </a:bodyPr>
          <a:lstStyle/>
          <a:p>
            <a:pPr algn="ctr">
              <a:defRPr sz="900" b="1">
                <a:solidFill>
                  <a:srgbClr val="39D7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39D7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REAL UI</a:t>
            </a:r>
            <a:endParaRPr sz="900" b="1">
              <a:solidFill>
                <a:srgbClr val="39D7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-179"/>
          <p:cNvSpPr>
            <a:spLocks noGrp="1"/>
          </p:cNvSpPr>
          <p:nvPr/>
        </p:nvSpPr>
        <p:spPr>
          <a:xfrm>
            <a:off x="1466850" y="5772150"/>
            <a:ext cx="2419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截图来自仓库内浏览器联调记录</a:t>
            </a:r>
            <a:endParaRPr sz="97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rcRect t="16814" b="16814"/>
          <a:stretch>
            <a:fillRect/>
          </a:stretch>
        </p:blipFill>
        <p:spPr>
          <a:xfrm>
            <a:off x="4324350" y="1466850"/>
            <a:ext cx="7372350" cy="4819650"/>
          </a:xfrm>
          <a:prstGeom prst="roundRect">
            <a:avLst>
              <a:gd name="adj" fmla="val 2372"/>
            </a:avLst>
          </a:prstGeom>
        </p:spPr>
      </p:pic>
      <p:sp>
        <p:nvSpPr>
          <p:cNvPr id="22" name="rect-180"/>
          <p:cNvSpPr>
            <a:spLocks noGrp="1"/>
          </p:cNvSpPr>
          <p:nvPr/>
        </p:nvSpPr>
        <p:spPr>
          <a:xfrm>
            <a:off x="4324350" y="1466850"/>
            <a:ext cx="7372350" cy="4819650"/>
          </a:xfrm>
          <a:prstGeom prst="roundRect">
            <a:avLst>
              <a:gd name="adj" fmla="val 2372"/>
            </a:avLst>
          </a:prstGeom>
          <a:noFill/>
          <a:ln w="19050">
            <a:solidFill>
              <a:srgbClr val="26303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181"/>
          <p:cNvSpPr>
            <a:spLocks noGrp="1"/>
          </p:cNvSpPr>
          <p:nvPr/>
        </p:nvSpPr>
        <p:spPr>
          <a:xfrm>
            <a:off x="495300" y="381000"/>
            <a:ext cx="590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DUAL-CASE VALIDATION</a:t>
            </a:r>
            <a:endParaRPr sz="90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182"/>
          <p:cNvSpPr>
            <a:spLocks noGrp="1"/>
          </p:cNvSpPr>
          <p:nvPr/>
        </p:nvSpPr>
        <p:spPr>
          <a:xfrm>
            <a:off x="495300" y="60960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0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一高一低：系统不是“见谁都报风险”</a:t>
            </a:r>
            <a:endParaRPr sz="300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line-183"/>
          <p:cNvSpPr>
            <a:spLocks noGrp="1"/>
          </p:cNvSpPr>
          <p:nvPr/>
        </p:nvSpPr>
        <p:spPr>
          <a:xfrm>
            <a:off x="495300" y="1257300"/>
            <a:ext cx="1120140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5" name="text-184"/>
          <p:cNvSpPr>
            <a:spLocks noGrp="1"/>
          </p:cNvSpPr>
          <p:nvPr/>
        </p:nvSpPr>
        <p:spPr>
          <a:xfrm>
            <a:off x="495300" y="65151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777A7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777A7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FLUXAUDIT · AI × WEB3</a:t>
            </a:r>
            <a:endParaRPr sz="825" b="1">
              <a:solidFill>
                <a:srgbClr val="777A7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-185"/>
          <p:cNvSpPr>
            <a:spLocks noGrp="1"/>
          </p:cNvSpPr>
          <p:nvPr/>
        </p:nvSpPr>
        <p:spPr>
          <a:xfrm>
            <a:off x="113728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777A74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777A74"/>
                </a:solidFill>
                <a:latin typeface="Azeret Mono"/>
                <a:ea typeface="Azeret Mono"/>
                <a:cs typeface="Azeret Mono"/>
              </a:rPr>
              <a:t>08</a:t>
            </a:r>
            <a:endParaRPr sz="900" b="1">
              <a:solidFill>
                <a:srgbClr val="777A74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7" name="text-186"/>
          <p:cNvSpPr>
            <a:spLocks noGrp="1"/>
          </p:cNvSpPr>
          <p:nvPr/>
        </p:nvSpPr>
        <p:spPr>
          <a:xfrm>
            <a:off x="495300" y="1466850"/>
            <a:ext cx="609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同一套流程、同一套规则、两组相反结果。</a:t>
            </a:r>
            <a:endParaRPr sz="1650" b="1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ect-187"/>
          <p:cNvSpPr>
            <a:spLocks noGrp="1"/>
          </p:cNvSpPr>
          <p:nvPr/>
        </p:nvSpPr>
        <p:spPr>
          <a:xfrm>
            <a:off x="495300" y="2038350"/>
            <a:ext cx="5334000" cy="3638550"/>
          </a:xfrm>
          <a:prstGeom prst="roundRect">
            <a:avLst>
              <a:gd name="adj" fmla="val 3141"/>
            </a:avLst>
          </a:prstGeom>
          <a:solidFill>
            <a:srgbClr val="F6F0E8"/>
          </a:solidFill>
          <a:ln w="9525">
            <a:solidFill>
              <a:srgbClr val="D5C5C1"/>
            </a:solidFill>
            <a:prstDash val="solid"/>
          </a:ln>
        </p:spPr>
      </p:sp>
      <p:sp>
        <p:nvSpPr>
          <p:cNvPr id="9" name="rect-188"/>
          <p:cNvSpPr>
            <a:spLocks noGrp="1"/>
          </p:cNvSpPr>
          <p:nvPr/>
        </p:nvSpPr>
        <p:spPr>
          <a:xfrm>
            <a:off x="6362700" y="2038350"/>
            <a:ext cx="5334000" cy="3638550"/>
          </a:xfrm>
          <a:prstGeom prst="roundRect">
            <a:avLst>
              <a:gd name="adj" fmla="val 3141"/>
            </a:avLst>
          </a:prstGeom>
          <a:solidFill>
            <a:srgbClr val="ECF3EC"/>
          </a:solidFill>
          <a:ln w="9525">
            <a:solidFill>
              <a:srgbClr val="C1D1C5"/>
            </a:solidFill>
            <a:prstDash val="solid"/>
          </a:ln>
        </p:spPr>
      </p:sp>
      <p:sp>
        <p:nvSpPr>
          <p:cNvPr id="10" name="rect-189"/>
          <p:cNvSpPr>
            <a:spLocks noGrp="1"/>
          </p:cNvSpPr>
          <p:nvPr/>
        </p:nvSpPr>
        <p:spPr>
          <a:xfrm>
            <a:off x="723900" y="2266950"/>
            <a:ext cx="2095500" cy="266700"/>
          </a:xfrm>
          <a:prstGeom prst="roundRect">
            <a:avLst>
              <a:gd name="adj" fmla="val 50000"/>
            </a:avLst>
          </a:prstGeom>
          <a:solidFill>
            <a:srgbClr val="F9DDE0"/>
          </a:solidFill>
          <a:ln w="9525">
            <a:solidFill>
              <a:srgbClr val="E8AEB5"/>
            </a:solidFill>
            <a:prstDash val="solid"/>
          </a:ln>
        </p:spPr>
        <p:txBody>
          <a:bodyPr lIns="76200" tIns="19050" rIns="76200" bIns="19050" anchor="ctr">
            <a:normAutofit fontScale="97162"/>
          </a:bodyPr>
          <a:lstStyle/>
          <a:p>
            <a:pPr algn="ctr">
              <a:defRPr sz="900" b="1">
                <a:solidFill>
                  <a:srgbClr val="A919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A919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SYNTHETIC HIGH-RISK FIXTURE</a:t>
            </a:r>
            <a:endParaRPr sz="900" b="1">
              <a:solidFill>
                <a:srgbClr val="A919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ect-190"/>
          <p:cNvSpPr>
            <a:spLocks noGrp="1"/>
          </p:cNvSpPr>
          <p:nvPr/>
        </p:nvSpPr>
        <p:spPr>
          <a:xfrm>
            <a:off x="6591300" y="2266950"/>
            <a:ext cx="2171700" cy="266700"/>
          </a:xfrm>
          <a:prstGeom prst="roundRect">
            <a:avLst>
              <a:gd name="adj" fmla="val 50000"/>
            </a:avLst>
          </a:prstGeom>
          <a:solidFill>
            <a:srgbClr val="DFF2E4"/>
          </a:solidFill>
          <a:ln w="9525">
            <a:solidFill>
              <a:srgbClr val="A9D1B4"/>
            </a:solidFill>
            <a:prstDash val="solid"/>
          </a:ln>
        </p:spPr>
        <p:txBody>
          <a:bodyPr lIns="76200" tIns="19050" rIns="76200" bIns="19050" anchor="ctr">
            <a:normAutofit fontScale="97837"/>
          </a:bodyPr>
          <a:lstStyle/>
          <a:p>
            <a:pPr algn="ctr">
              <a:defRPr sz="900" b="1">
                <a:solidFill>
                  <a:srgbClr val="17663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17663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SYNTHETIC COMPLIANT FIXTURE</a:t>
            </a:r>
            <a:endParaRPr sz="900" b="1">
              <a:solidFill>
                <a:srgbClr val="17663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ect-191"/>
          <p:cNvSpPr>
            <a:spLocks noGrp="1"/>
          </p:cNvSpPr>
          <p:nvPr/>
        </p:nvSpPr>
        <p:spPr>
          <a:xfrm>
            <a:off x="781050" y="2895600"/>
            <a:ext cx="1352550" cy="1352550"/>
          </a:xfrm>
          <a:prstGeom prst="ellipse">
            <a:avLst/>
          </a:prstGeom>
          <a:solidFill>
            <a:srgbClr val="F2EEE4"/>
          </a:solidFill>
          <a:ln w="47625">
            <a:solidFill>
              <a:srgbClr val="FF5465"/>
            </a:solidFill>
            <a:prstDash val="solid"/>
          </a:ln>
        </p:spPr>
      </p:sp>
      <p:sp>
        <p:nvSpPr>
          <p:cNvPr id="13" name="text-192"/>
          <p:cNvSpPr>
            <a:spLocks noGrp="1"/>
          </p:cNvSpPr>
          <p:nvPr/>
        </p:nvSpPr>
        <p:spPr>
          <a:xfrm>
            <a:off x="952500" y="3086100"/>
            <a:ext cx="1009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4200" b="1">
                <a:solidFill>
                  <a:srgbClr val="FF546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200" b="1">
                <a:solidFill>
                  <a:srgbClr val="FF546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85</a:t>
            </a:r>
            <a:endParaRPr sz="4200" b="1">
              <a:solidFill>
                <a:srgbClr val="FF546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-193"/>
          <p:cNvSpPr>
            <a:spLocks noGrp="1"/>
          </p:cNvSpPr>
          <p:nvPr/>
        </p:nvSpPr>
        <p:spPr>
          <a:xfrm>
            <a:off x="990600" y="3733800"/>
            <a:ext cx="933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FF546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546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HIGH</a:t>
            </a:r>
            <a:endParaRPr sz="1350" b="1">
              <a:solidFill>
                <a:srgbClr val="FF546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ect-194"/>
          <p:cNvSpPr>
            <a:spLocks noGrp="1"/>
          </p:cNvSpPr>
          <p:nvPr/>
        </p:nvSpPr>
        <p:spPr>
          <a:xfrm>
            <a:off x="6648450" y="2895600"/>
            <a:ext cx="1352550" cy="1352550"/>
          </a:xfrm>
          <a:prstGeom prst="ellipse">
            <a:avLst/>
          </a:prstGeom>
          <a:solidFill>
            <a:srgbClr val="F2EEE4"/>
          </a:solidFill>
          <a:ln w="47625">
            <a:solidFill>
              <a:srgbClr val="1A8D4B"/>
            </a:solidFill>
            <a:prstDash val="solid"/>
          </a:ln>
        </p:spPr>
      </p:sp>
      <p:sp>
        <p:nvSpPr>
          <p:cNvPr id="16" name="text-195"/>
          <p:cNvSpPr>
            <a:spLocks noGrp="1"/>
          </p:cNvSpPr>
          <p:nvPr/>
        </p:nvSpPr>
        <p:spPr>
          <a:xfrm>
            <a:off x="6819900" y="3086100"/>
            <a:ext cx="1009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4200" b="1">
                <a:solidFill>
                  <a:srgbClr val="1A8D4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200" b="1">
                <a:solidFill>
                  <a:srgbClr val="1A8D4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4200" b="1">
              <a:solidFill>
                <a:srgbClr val="1A8D4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-196"/>
          <p:cNvSpPr>
            <a:spLocks noGrp="1"/>
          </p:cNvSpPr>
          <p:nvPr/>
        </p:nvSpPr>
        <p:spPr>
          <a:xfrm>
            <a:off x="6858000" y="3733800"/>
            <a:ext cx="933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1A8D4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A8D4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LOW</a:t>
            </a:r>
            <a:endParaRPr sz="1350" b="1">
              <a:solidFill>
                <a:srgbClr val="1A8D4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-197"/>
          <p:cNvSpPr>
            <a:spLocks noGrp="1"/>
          </p:cNvSpPr>
          <p:nvPr/>
        </p:nvSpPr>
        <p:spPr>
          <a:xfrm>
            <a:off x="2400300" y="29146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NovaPay</a:t>
            </a:r>
            <a:endParaRPr sz="225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-198"/>
          <p:cNvSpPr>
            <a:spLocks noGrp="1"/>
          </p:cNvSpPr>
          <p:nvPr/>
        </p:nvSpPr>
        <p:spPr>
          <a:xfrm>
            <a:off x="2400300" y="33718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FF546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546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 条 findings</a:t>
            </a:r>
            <a:endParaRPr sz="1425" b="1">
              <a:solidFill>
                <a:srgbClr val="FF546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-199"/>
          <p:cNvSpPr>
            <a:spLocks noGrp="1"/>
          </p:cNvSpPr>
          <p:nvPr/>
        </p:nvSpPr>
        <p:spPr>
          <a:xfrm>
            <a:off x="2400300" y="3829050"/>
            <a:ext cx="28956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42000"/>
              </a:lnSpc>
              <a:buNone/>
              <a:defRPr sz="120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82% 团队集中持仓</a:t>
            </a:r>
            <a:endParaRPr sz="120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42000"/>
              </a:lnSpc>
              <a:buNone/>
              <a:defRPr sz="120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无 TimeLock / LP 未锁</a:t>
            </a:r>
            <a:endParaRPr sz="120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42000"/>
              </a:lnSpc>
              <a:buNone/>
              <a:defRPr sz="120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源码相似度 92%</a:t>
            </a:r>
            <a:endParaRPr sz="120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42000"/>
              </a:lnSpc>
              <a:buNone/>
              <a:defRPr sz="120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审计链接不可验证</a:t>
            </a:r>
            <a:endParaRPr sz="120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-200"/>
          <p:cNvSpPr>
            <a:spLocks noGrp="1"/>
          </p:cNvSpPr>
          <p:nvPr/>
        </p:nvSpPr>
        <p:spPr>
          <a:xfrm>
            <a:off x="8267700" y="29146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AtlasIndex</a:t>
            </a:r>
            <a:endParaRPr sz="225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-201"/>
          <p:cNvSpPr>
            <a:spLocks noGrp="1"/>
          </p:cNvSpPr>
          <p:nvPr/>
        </p:nvSpPr>
        <p:spPr>
          <a:xfrm>
            <a:off x="8267700" y="33718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1A8D4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1A8D4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 条 LOW finding</a:t>
            </a:r>
            <a:endParaRPr sz="1425" b="1">
              <a:solidFill>
                <a:srgbClr val="1A8D4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-202"/>
          <p:cNvSpPr>
            <a:spLocks noGrp="1"/>
          </p:cNvSpPr>
          <p:nvPr/>
        </p:nvSpPr>
        <p:spPr>
          <a:xfrm>
            <a:off x="8267700" y="3829050"/>
            <a:ext cx="28956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42000"/>
              </a:lnSpc>
              <a:buNone/>
              <a:defRPr sz="120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15% 团队持仓一致</a:t>
            </a:r>
            <a:endParaRPr sz="120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42000"/>
              </a:lnSpc>
              <a:buNone/>
              <a:defRPr sz="120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 个月 TimeLock 可查</a:t>
            </a:r>
            <a:endParaRPr sz="120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42000"/>
              </a:lnSpc>
              <a:buNone/>
              <a:defRPr sz="120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5/9 多签治理</a:t>
            </a:r>
            <a:endParaRPr sz="120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42000"/>
              </a:lnSpc>
              <a:buNone/>
              <a:defRPr sz="120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仅提示文档进度滞后</a:t>
            </a:r>
            <a:endParaRPr sz="120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line-203"/>
          <p:cNvSpPr>
            <a:spLocks noGrp="1"/>
          </p:cNvSpPr>
          <p:nvPr/>
        </p:nvSpPr>
        <p:spPr>
          <a:xfrm>
            <a:off x="495300" y="5962650"/>
            <a:ext cx="1120140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25" name="text-204"/>
          <p:cNvSpPr>
            <a:spLocks noGrp="1"/>
          </p:cNvSpPr>
          <p:nvPr/>
        </p:nvSpPr>
        <p:spPr>
          <a:xfrm>
            <a:off x="495300" y="61150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判别力</a:t>
            </a:r>
            <a:endParaRPr sz="105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-205"/>
          <p:cNvSpPr>
            <a:spLocks noGrp="1"/>
          </p:cNvSpPr>
          <p:nvPr/>
        </p:nvSpPr>
        <p:spPr>
          <a:xfrm>
            <a:off x="1390650" y="6076950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不追求“全绿”或“全红”，只追求声明与事实逐条对齐</a:t>
            </a:r>
            <a:endParaRPr sz="150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206"/>
          <p:cNvSpPr>
            <a:spLocks noGrp="1"/>
          </p:cNvSpPr>
          <p:nvPr/>
        </p:nvSpPr>
        <p:spPr>
          <a:xfrm>
            <a:off x="495300" y="381000"/>
            <a:ext cx="590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STRICT VERIFICATION</a:t>
            </a:r>
            <a:endParaRPr sz="900" b="1">
              <a:solidFill>
                <a:srgbClr val="A87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207"/>
          <p:cNvSpPr>
            <a:spLocks noGrp="1"/>
          </p:cNvSpPr>
          <p:nvPr/>
        </p:nvSpPr>
        <p:spPr>
          <a:xfrm>
            <a:off x="495300" y="60960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0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四道本地门禁，任一步失败都拒绝绿色状态</a:t>
            </a:r>
            <a:endParaRPr sz="3000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line-208"/>
          <p:cNvSpPr>
            <a:spLocks noGrp="1"/>
          </p:cNvSpPr>
          <p:nvPr/>
        </p:nvSpPr>
        <p:spPr>
          <a:xfrm>
            <a:off x="495300" y="1257300"/>
            <a:ext cx="1120140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5" name="text-209"/>
          <p:cNvSpPr>
            <a:spLocks noGrp="1"/>
          </p:cNvSpPr>
          <p:nvPr/>
        </p:nvSpPr>
        <p:spPr>
          <a:xfrm>
            <a:off x="495300" y="65151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77807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77807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FLUXAUDIT · AI × WEB3</a:t>
            </a:r>
            <a:endParaRPr sz="825" b="1">
              <a:solidFill>
                <a:srgbClr val="77807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-210"/>
          <p:cNvSpPr>
            <a:spLocks noGrp="1"/>
          </p:cNvSpPr>
          <p:nvPr/>
        </p:nvSpPr>
        <p:spPr>
          <a:xfrm>
            <a:off x="113728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77807E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77807E"/>
                </a:solidFill>
                <a:latin typeface="Azeret Mono"/>
                <a:ea typeface="Azeret Mono"/>
                <a:cs typeface="Azeret Mono"/>
              </a:rPr>
              <a:t>09</a:t>
            </a:r>
            <a:endParaRPr sz="900" b="1">
              <a:solidFill>
                <a:srgbClr val="77807E"/>
              </a:solidFill>
              <a:latin typeface="Azeret Mono"/>
              <a:ea typeface="Azeret Mono"/>
              <a:cs typeface="Azeret Mono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rcRect t="8856" b="8856"/>
          <a:stretch>
            <a:fillRect/>
          </a:stretch>
        </p:blipFill>
        <p:spPr>
          <a:xfrm>
            <a:off x="495300" y="1466850"/>
            <a:ext cx="6953250" cy="4857750"/>
          </a:xfrm>
          <a:prstGeom prst="roundRect">
            <a:avLst>
              <a:gd name="adj" fmla="val 2353"/>
            </a:avLst>
          </a:prstGeom>
        </p:spPr>
      </p:pic>
      <p:sp>
        <p:nvSpPr>
          <p:cNvPr id="7" name="rect-211"/>
          <p:cNvSpPr>
            <a:spLocks noGrp="1"/>
          </p:cNvSpPr>
          <p:nvPr/>
        </p:nvSpPr>
        <p:spPr>
          <a:xfrm>
            <a:off x="495300" y="1466850"/>
            <a:ext cx="6953250" cy="4857750"/>
          </a:xfrm>
          <a:prstGeom prst="roundRect">
            <a:avLst>
              <a:gd name="adj" fmla="val 2353"/>
            </a:avLst>
          </a:prstGeom>
          <a:noFill/>
          <a:ln w="19050">
            <a:solidFill>
              <a:srgbClr val="263036"/>
            </a:solidFill>
            <a:prstDash val="solid"/>
          </a:ln>
        </p:spPr>
      </p:sp>
      <p:sp>
        <p:nvSpPr>
          <p:cNvPr id="8" name="text-212"/>
          <p:cNvSpPr>
            <a:spLocks noGrp="1"/>
          </p:cNvSpPr>
          <p:nvPr/>
        </p:nvSpPr>
        <p:spPr>
          <a:xfrm>
            <a:off x="7848600" y="16764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39D77D"/>
                </a:solidFill>
                <a:latin typeface="Azeret Mono"/>
                <a:ea typeface="Azeret Mono"/>
                <a:cs typeface="Azeret Mono"/>
              </a:defRPr>
            </a:pPr>
            <a:r>
              <a:rPr sz="975" b="1">
                <a:solidFill>
                  <a:srgbClr val="39D77D"/>
                </a:solidFill>
                <a:latin typeface="Azeret Mono"/>
                <a:ea typeface="Azeret Mono"/>
                <a:cs typeface="Azeret Mono"/>
              </a:rPr>
              <a:t>01</a:t>
            </a:r>
            <a:endParaRPr sz="975" b="1">
              <a:solidFill>
                <a:srgbClr val="39D77D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9" name="text-213"/>
          <p:cNvSpPr>
            <a:spLocks noGrp="1"/>
          </p:cNvSpPr>
          <p:nvPr/>
        </p:nvSpPr>
        <p:spPr>
          <a:xfrm>
            <a:off x="8401050" y="165735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Report hash</a:t>
            </a:r>
            <a:endParaRPr sz="157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214"/>
          <p:cNvSpPr>
            <a:spLocks noGrp="1"/>
          </p:cNvSpPr>
          <p:nvPr/>
        </p:nvSpPr>
        <p:spPr>
          <a:xfrm>
            <a:off x="8401050" y="19621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完整报告内容未被改动</a:t>
            </a:r>
            <a:endParaRPr sz="112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line-215"/>
          <p:cNvSpPr>
            <a:spLocks noGrp="1"/>
          </p:cNvSpPr>
          <p:nvPr/>
        </p:nvSpPr>
        <p:spPr>
          <a:xfrm>
            <a:off x="7848600" y="2476500"/>
            <a:ext cx="350520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12" name="text-216"/>
          <p:cNvSpPr>
            <a:spLocks noGrp="1"/>
          </p:cNvSpPr>
          <p:nvPr/>
        </p:nvSpPr>
        <p:spPr>
          <a:xfrm>
            <a:off x="7848600" y="26479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39D77D"/>
                </a:solidFill>
                <a:latin typeface="Azeret Mono"/>
                <a:ea typeface="Azeret Mono"/>
                <a:cs typeface="Azeret Mono"/>
              </a:defRPr>
            </a:pPr>
            <a:r>
              <a:rPr sz="975" b="1">
                <a:solidFill>
                  <a:srgbClr val="39D77D"/>
                </a:solidFill>
                <a:latin typeface="Azeret Mono"/>
                <a:ea typeface="Azeret Mono"/>
                <a:cs typeface="Azeret Mono"/>
              </a:rPr>
              <a:t>02</a:t>
            </a:r>
            <a:endParaRPr sz="975" b="1">
              <a:solidFill>
                <a:srgbClr val="39D77D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3" name="text-217"/>
          <p:cNvSpPr>
            <a:spLocks noGrp="1"/>
          </p:cNvSpPr>
          <p:nvPr/>
        </p:nvSpPr>
        <p:spPr>
          <a:xfrm>
            <a:off x="8401050" y="262890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Step chain</a:t>
            </a:r>
            <a:endParaRPr sz="157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-218"/>
          <p:cNvSpPr>
            <a:spLocks noGrp="1"/>
          </p:cNvSpPr>
          <p:nvPr/>
        </p:nvSpPr>
        <p:spPr>
          <a:xfrm>
            <a:off x="8401050" y="29337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七步顺序、输入输出和前序哈希连续</a:t>
            </a:r>
            <a:endParaRPr sz="112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line-219"/>
          <p:cNvSpPr>
            <a:spLocks noGrp="1"/>
          </p:cNvSpPr>
          <p:nvPr/>
        </p:nvSpPr>
        <p:spPr>
          <a:xfrm>
            <a:off x="7848600" y="3448050"/>
            <a:ext cx="350520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16" name="text-220"/>
          <p:cNvSpPr>
            <a:spLocks noGrp="1"/>
          </p:cNvSpPr>
          <p:nvPr/>
        </p:nvSpPr>
        <p:spPr>
          <a:xfrm>
            <a:off x="7848600" y="36195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39D77D"/>
                </a:solidFill>
                <a:latin typeface="Azeret Mono"/>
                <a:ea typeface="Azeret Mono"/>
                <a:cs typeface="Azeret Mono"/>
              </a:defRPr>
            </a:pPr>
            <a:r>
              <a:rPr sz="975" b="1">
                <a:solidFill>
                  <a:srgbClr val="39D77D"/>
                </a:solidFill>
                <a:latin typeface="Azeret Mono"/>
                <a:ea typeface="Azeret Mono"/>
                <a:cs typeface="Azeret Mono"/>
              </a:rPr>
              <a:t>03</a:t>
            </a:r>
            <a:endParaRPr sz="975" b="1">
              <a:solidFill>
                <a:srgbClr val="39D77D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7" name="text-221"/>
          <p:cNvSpPr>
            <a:spLocks noGrp="1"/>
          </p:cNvSpPr>
          <p:nvPr/>
        </p:nvSpPr>
        <p:spPr>
          <a:xfrm>
            <a:off x="8401050" y="360045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Manifest</a:t>
            </a:r>
            <a:endParaRPr sz="157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-222"/>
          <p:cNvSpPr>
            <a:spLocks noGrp="1"/>
          </p:cNvSpPr>
          <p:nvPr/>
        </p:nvSpPr>
        <p:spPr>
          <a:xfrm>
            <a:off x="8401050" y="39052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第七步承诺前六步与业务正文</a:t>
            </a:r>
            <a:endParaRPr sz="112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line-223"/>
          <p:cNvSpPr>
            <a:spLocks noGrp="1"/>
          </p:cNvSpPr>
          <p:nvPr/>
        </p:nvSpPr>
        <p:spPr>
          <a:xfrm>
            <a:off x="7848600" y="4419600"/>
            <a:ext cx="350520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20" name="text-224"/>
          <p:cNvSpPr>
            <a:spLocks noGrp="1"/>
          </p:cNvSpPr>
          <p:nvPr/>
        </p:nvSpPr>
        <p:spPr>
          <a:xfrm>
            <a:off x="7848600" y="4591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39D77D"/>
                </a:solidFill>
                <a:latin typeface="Azeret Mono"/>
                <a:ea typeface="Azeret Mono"/>
                <a:cs typeface="Azeret Mono"/>
              </a:defRPr>
            </a:pPr>
            <a:r>
              <a:rPr sz="975" b="1">
                <a:solidFill>
                  <a:srgbClr val="39D77D"/>
                </a:solidFill>
                <a:latin typeface="Azeret Mono"/>
                <a:ea typeface="Azeret Mono"/>
                <a:cs typeface="Azeret Mono"/>
              </a:rPr>
              <a:t>04</a:t>
            </a:r>
            <a:endParaRPr sz="975" b="1">
              <a:solidFill>
                <a:srgbClr val="39D77D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21" name="text-225"/>
          <p:cNvSpPr>
            <a:spLocks noGrp="1"/>
          </p:cNvSpPr>
          <p:nvPr/>
        </p:nvSpPr>
        <p:spPr>
          <a:xfrm>
            <a:off x="8401050" y="457200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Merkle Root</a:t>
            </a:r>
            <a:endParaRPr sz="157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-226"/>
          <p:cNvSpPr>
            <a:spLocks noGrp="1"/>
          </p:cNvSpPr>
          <p:nvPr/>
        </p:nvSpPr>
        <p:spPr>
          <a:xfrm>
            <a:off x="8401050" y="48768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七个 step hash 按顺序汇总</a:t>
            </a:r>
            <a:endParaRPr sz="112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line-227"/>
          <p:cNvSpPr>
            <a:spLocks noGrp="1"/>
          </p:cNvSpPr>
          <p:nvPr/>
        </p:nvSpPr>
        <p:spPr>
          <a:xfrm>
            <a:off x="7848600" y="5391150"/>
            <a:ext cx="350520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24" name="rect-228"/>
          <p:cNvSpPr>
            <a:spLocks noGrp="1"/>
          </p:cNvSpPr>
          <p:nvPr/>
        </p:nvSpPr>
        <p:spPr>
          <a:xfrm>
            <a:off x="7848600" y="5600700"/>
            <a:ext cx="3505200" cy="723900"/>
          </a:xfrm>
          <a:prstGeom prst="roundRect">
            <a:avLst>
              <a:gd name="adj" fmla="val 10526"/>
            </a:avLst>
          </a:prstGeom>
          <a:solidFill>
            <a:srgbClr val="21162E"/>
          </a:solidFill>
          <a:ln w="9525">
            <a:solidFill>
              <a:srgbClr val="6E3FC8"/>
            </a:solidFill>
            <a:prstDash val="solid"/>
          </a:ln>
        </p:spPr>
      </p:sp>
      <p:sp>
        <p:nvSpPr>
          <p:cNvPr id="25" name="text-229"/>
          <p:cNvSpPr>
            <a:spLocks noGrp="1"/>
          </p:cNvSpPr>
          <p:nvPr/>
        </p:nvSpPr>
        <p:spPr>
          <a:xfrm>
            <a:off x="8020050" y="5772150"/>
            <a:ext cx="3181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75" b="1">
                <a:solidFill>
                  <a:srgbClr val="A879FF"/>
                </a:solidFill>
                <a:latin typeface="Azeret Mono"/>
                <a:ea typeface="Azeret Mono"/>
                <a:cs typeface="Azeret Mono"/>
              </a:defRPr>
            </a:pPr>
            <a:r>
              <a:rPr sz="975" b="1">
                <a:solidFill>
                  <a:srgbClr val="A879FF"/>
                </a:solidFill>
                <a:latin typeface="Azeret Mono"/>
                <a:ea typeface="Azeret Mono"/>
                <a:cs typeface="Azeret Mono"/>
              </a:rPr>
              <a:t>VERIFIED LOCALLY ≠ VERIFIED ON SEPOLIA</a:t>
            </a:r>
            <a:endParaRPr sz="975" b="1">
              <a:solidFill>
                <a:srgbClr val="A879FF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26" name="text-230"/>
          <p:cNvSpPr>
            <a:spLocks noGrp="1"/>
          </p:cNvSpPr>
          <p:nvPr/>
        </p:nvSpPr>
        <p:spPr>
          <a:xfrm>
            <a:off x="8020050" y="6057900"/>
            <a:ext cx="3181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7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本地完整性与链上可信记录明确分离</a:t>
            </a:r>
            <a:endParaRPr sz="97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231"/>
          <p:cNvSpPr>
            <a:spLocks noGrp="1"/>
          </p:cNvSpPr>
          <p:nvPr/>
        </p:nvSpPr>
        <p:spPr>
          <a:xfrm>
            <a:off x="495300" y="381000"/>
            <a:ext cx="590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SYSTEM ARCHITECTURE</a:t>
            </a:r>
            <a:endParaRPr sz="90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232"/>
          <p:cNvSpPr>
            <a:spLocks noGrp="1"/>
          </p:cNvSpPr>
          <p:nvPr/>
        </p:nvSpPr>
        <p:spPr>
          <a:xfrm>
            <a:off x="495300" y="60960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0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五人协作，交付一条真正跑通的端到端链路</a:t>
            </a:r>
            <a:endParaRPr sz="300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line-233"/>
          <p:cNvSpPr>
            <a:spLocks noGrp="1"/>
          </p:cNvSpPr>
          <p:nvPr/>
        </p:nvSpPr>
        <p:spPr>
          <a:xfrm>
            <a:off x="495300" y="1257300"/>
            <a:ext cx="1120140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5" name="text-234"/>
          <p:cNvSpPr>
            <a:spLocks noGrp="1"/>
          </p:cNvSpPr>
          <p:nvPr/>
        </p:nvSpPr>
        <p:spPr>
          <a:xfrm>
            <a:off x="495300" y="65151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777A7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777A7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FLUXAUDIT · AI × WEB3</a:t>
            </a:r>
            <a:endParaRPr sz="825" b="1">
              <a:solidFill>
                <a:srgbClr val="777A7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-235"/>
          <p:cNvSpPr>
            <a:spLocks noGrp="1"/>
          </p:cNvSpPr>
          <p:nvPr/>
        </p:nvSpPr>
        <p:spPr>
          <a:xfrm>
            <a:off x="113728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777A74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777A74"/>
                </a:solidFill>
                <a:latin typeface="Azeret Mono"/>
                <a:ea typeface="Azeret Mono"/>
                <a:cs typeface="Azeret Mono"/>
              </a:rPr>
              <a:t>10</a:t>
            </a:r>
            <a:endParaRPr sz="900" b="1">
              <a:solidFill>
                <a:srgbClr val="777A74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7" name="line-236"/>
          <p:cNvSpPr>
            <a:spLocks noGrp="1"/>
          </p:cNvSpPr>
          <p:nvPr/>
        </p:nvSpPr>
        <p:spPr>
          <a:xfrm>
            <a:off x="1352550" y="3152775"/>
            <a:ext cx="8972550" cy="0"/>
          </a:xfrm>
          <a:prstGeom prst="line">
            <a:avLst/>
          </a:prstGeom>
          <a:noFill/>
          <a:ln w="28575">
            <a:solidFill>
              <a:srgbClr val="AFA79A"/>
            </a:solidFill>
            <a:prstDash val="solid"/>
          </a:ln>
        </p:spPr>
      </p:sp>
      <p:sp>
        <p:nvSpPr>
          <p:cNvPr id="8" name="rect-237"/>
          <p:cNvSpPr>
            <a:spLocks noGrp="1"/>
          </p:cNvSpPr>
          <p:nvPr/>
        </p:nvSpPr>
        <p:spPr>
          <a:xfrm>
            <a:off x="514350" y="2019300"/>
            <a:ext cx="1924050" cy="2724150"/>
          </a:xfrm>
          <a:prstGeom prst="roundRect">
            <a:avLst>
              <a:gd name="adj" fmla="val 4950"/>
            </a:avLst>
          </a:prstGeom>
          <a:solidFill>
            <a:srgbClr val="EAE3D8"/>
          </a:solidFill>
          <a:ln w="9525">
            <a:solidFill>
              <a:srgbClr val="CAC1B4"/>
            </a:solidFill>
            <a:prstDash val="solid"/>
          </a:ln>
        </p:spPr>
      </p:sp>
      <p:sp>
        <p:nvSpPr>
          <p:cNvPr id="9" name="text-238"/>
          <p:cNvSpPr>
            <a:spLocks noGrp="1"/>
          </p:cNvSpPr>
          <p:nvPr/>
        </p:nvSpPr>
        <p:spPr>
          <a:xfrm>
            <a:off x="685800" y="220980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F2BC4D"/>
                </a:solidFill>
                <a:latin typeface="Azeret Mono"/>
                <a:ea typeface="Azeret Mono"/>
                <a:cs typeface="Azeret Mono"/>
              </a:defRPr>
            </a:pPr>
            <a:r>
              <a:rPr sz="825" b="1">
                <a:solidFill>
                  <a:srgbClr val="F2BC4D"/>
                </a:solidFill>
                <a:latin typeface="Azeret Mono"/>
                <a:ea typeface="Azeret Mono"/>
                <a:cs typeface="Azeret Mono"/>
              </a:rPr>
              <a:t>MEMBER 1</a:t>
            </a:r>
            <a:endParaRPr sz="825" b="1">
              <a:solidFill>
                <a:srgbClr val="F2BC4D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0" name="text-239"/>
          <p:cNvSpPr>
            <a:spLocks noGrp="1"/>
          </p:cNvSpPr>
          <p:nvPr/>
        </p:nvSpPr>
        <p:spPr>
          <a:xfrm>
            <a:off x="685800" y="2571750"/>
            <a:ext cx="1581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测试数据与合规</a:t>
            </a:r>
            <a:endParaRPr sz="1575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ect-240"/>
          <p:cNvSpPr>
            <a:spLocks noGrp="1"/>
          </p:cNvSpPr>
          <p:nvPr/>
        </p:nvSpPr>
        <p:spPr>
          <a:xfrm>
            <a:off x="1238250" y="2971800"/>
            <a:ext cx="476250" cy="476250"/>
          </a:xfrm>
          <a:prstGeom prst="ellipse">
            <a:avLst/>
          </a:prstGeom>
          <a:solidFill>
            <a:srgbClr val="F2EEE4"/>
          </a:solidFill>
          <a:ln w="28575">
            <a:solidFill>
              <a:srgbClr val="F2BC4D"/>
            </a:solidFill>
            <a:prstDash val="solid"/>
          </a:ln>
        </p:spPr>
      </p:sp>
      <p:sp>
        <p:nvSpPr>
          <p:cNvPr id="12" name="text-241"/>
          <p:cNvSpPr>
            <a:spLocks noGrp="1"/>
          </p:cNvSpPr>
          <p:nvPr/>
        </p:nvSpPr>
        <p:spPr>
          <a:xfrm>
            <a:off x="1238250" y="309562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F2BC4D"/>
                </a:solidFill>
                <a:latin typeface="Azeret Mono"/>
                <a:ea typeface="Azeret Mono"/>
                <a:cs typeface="Azeret Mono"/>
              </a:defRPr>
            </a:pPr>
            <a:r>
              <a:rPr sz="1350" b="1">
                <a:solidFill>
                  <a:srgbClr val="F2BC4D"/>
                </a:solidFill>
                <a:latin typeface="Azeret Mono"/>
                <a:ea typeface="Azeret Mono"/>
                <a:cs typeface="Azeret Mono"/>
              </a:rPr>
              <a:t>1</a:t>
            </a:r>
            <a:endParaRPr sz="1350" b="1">
              <a:solidFill>
                <a:srgbClr val="F2BC4D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3" name="text-242"/>
          <p:cNvSpPr>
            <a:spLocks noGrp="1"/>
          </p:cNvSpPr>
          <p:nvPr/>
        </p:nvSpPr>
        <p:spPr>
          <a:xfrm>
            <a:off x="685800" y="3733800"/>
            <a:ext cx="1581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2000"/>
              </a:lnSpc>
              <a:buNone/>
              <a:def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双样例白皮书</a:t>
            </a:r>
            <a:endParaRPr sz="105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2000"/>
              </a:lnSpc>
              <a:buNone/>
              <a:def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演示材料</a:t>
            </a:r>
            <a:endParaRPr sz="105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2000"/>
              </a:lnSpc>
              <a:buNone/>
              <a:def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PDPO 与免责声明</a:t>
            </a:r>
            <a:endParaRPr sz="105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ect-243"/>
          <p:cNvSpPr>
            <a:spLocks noGrp="1"/>
          </p:cNvSpPr>
          <p:nvPr/>
        </p:nvSpPr>
        <p:spPr>
          <a:xfrm>
            <a:off x="2781300" y="2019300"/>
            <a:ext cx="1924050" cy="2724150"/>
          </a:xfrm>
          <a:prstGeom prst="roundRect">
            <a:avLst>
              <a:gd name="adj" fmla="val 4950"/>
            </a:avLst>
          </a:prstGeom>
          <a:solidFill>
            <a:srgbClr val="F7F3EA"/>
          </a:solidFill>
          <a:ln w="9525">
            <a:solidFill>
              <a:srgbClr val="CAC1B4"/>
            </a:solidFill>
            <a:prstDash val="solid"/>
          </a:ln>
        </p:spPr>
      </p:sp>
      <p:sp>
        <p:nvSpPr>
          <p:cNvPr id="15" name="text-244"/>
          <p:cNvSpPr>
            <a:spLocks noGrp="1"/>
          </p:cNvSpPr>
          <p:nvPr/>
        </p:nvSpPr>
        <p:spPr>
          <a:xfrm>
            <a:off x="2952750" y="220980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6E3FC8"/>
                </a:solidFill>
                <a:latin typeface="Azeret Mono"/>
                <a:ea typeface="Azeret Mono"/>
                <a:cs typeface="Azeret Mono"/>
              </a:defRPr>
            </a:pPr>
            <a:r>
              <a:rPr sz="825" b="1">
                <a:solidFill>
                  <a:srgbClr val="6E3FC8"/>
                </a:solidFill>
                <a:latin typeface="Azeret Mono"/>
                <a:ea typeface="Azeret Mono"/>
                <a:cs typeface="Azeret Mono"/>
              </a:rPr>
              <a:t>MEMBER 3</a:t>
            </a:r>
            <a:endParaRPr sz="825" b="1">
              <a:solidFill>
                <a:srgbClr val="6E3FC8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6" name="text-245"/>
          <p:cNvSpPr>
            <a:spLocks noGrp="1"/>
          </p:cNvSpPr>
          <p:nvPr/>
        </p:nvSpPr>
        <p:spPr>
          <a:xfrm>
            <a:off x="2952750" y="2571750"/>
            <a:ext cx="1581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Agent / 算法</a:t>
            </a:r>
            <a:endParaRPr sz="1575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ect-246"/>
          <p:cNvSpPr>
            <a:spLocks noGrp="1"/>
          </p:cNvSpPr>
          <p:nvPr/>
        </p:nvSpPr>
        <p:spPr>
          <a:xfrm>
            <a:off x="3505200" y="2971800"/>
            <a:ext cx="476250" cy="476250"/>
          </a:xfrm>
          <a:prstGeom prst="ellipse">
            <a:avLst/>
          </a:prstGeom>
          <a:solidFill>
            <a:srgbClr val="F2EEE4"/>
          </a:solidFill>
          <a:ln w="28575">
            <a:solidFill>
              <a:srgbClr val="6E3FC8"/>
            </a:solidFill>
            <a:prstDash val="solid"/>
          </a:ln>
        </p:spPr>
      </p:sp>
      <p:sp>
        <p:nvSpPr>
          <p:cNvPr id="18" name="text-247"/>
          <p:cNvSpPr>
            <a:spLocks noGrp="1"/>
          </p:cNvSpPr>
          <p:nvPr/>
        </p:nvSpPr>
        <p:spPr>
          <a:xfrm>
            <a:off x="3505200" y="309562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6E3FC8"/>
                </a:solidFill>
                <a:latin typeface="Azeret Mono"/>
                <a:ea typeface="Azeret Mono"/>
                <a:cs typeface="Azeret Mono"/>
              </a:defRPr>
            </a:pPr>
            <a:r>
              <a:rPr sz="1350" b="1">
                <a:solidFill>
                  <a:srgbClr val="6E3FC8"/>
                </a:solidFill>
                <a:latin typeface="Azeret Mono"/>
                <a:ea typeface="Azeret Mono"/>
                <a:cs typeface="Azeret Mono"/>
              </a:rPr>
              <a:t>2</a:t>
            </a:r>
            <a:endParaRPr sz="1350" b="1">
              <a:solidFill>
                <a:srgbClr val="6E3FC8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9" name="text-248"/>
          <p:cNvSpPr>
            <a:spLocks noGrp="1"/>
          </p:cNvSpPr>
          <p:nvPr/>
        </p:nvSpPr>
        <p:spPr>
          <a:xfrm>
            <a:off x="2952750" y="3733800"/>
            <a:ext cx="1581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2000"/>
              </a:lnSpc>
              <a:buNone/>
              <a:def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DocAgent</a:t>
            </a:r>
            <a:endParaRPr sz="105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2000"/>
              </a:lnSpc>
              <a:buNone/>
              <a:def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CrossCheckAgent</a:t>
            </a:r>
            <a:endParaRPr sz="105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2000"/>
              </a:lnSpc>
              <a:buNone/>
              <a:def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RiskAgent</a:t>
            </a:r>
            <a:endParaRPr sz="105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ect-249"/>
          <p:cNvSpPr>
            <a:spLocks noGrp="1"/>
          </p:cNvSpPr>
          <p:nvPr/>
        </p:nvSpPr>
        <p:spPr>
          <a:xfrm>
            <a:off x="5048250" y="2019300"/>
            <a:ext cx="1924050" cy="2724150"/>
          </a:xfrm>
          <a:prstGeom prst="roundRect">
            <a:avLst>
              <a:gd name="adj" fmla="val 4950"/>
            </a:avLst>
          </a:prstGeom>
          <a:solidFill>
            <a:srgbClr val="EAE3D8"/>
          </a:solidFill>
          <a:ln w="9525">
            <a:solidFill>
              <a:srgbClr val="CAC1B4"/>
            </a:solidFill>
            <a:prstDash val="solid"/>
          </a:ln>
        </p:spPr>
      </p:sp>
      <p:sp>
        <p:nvSpPr>
          <p:cNvPr id="21" name="text-250"/>
          <p:cNvSpPr>
            <a:spLocks noGrp="1"/>
          </p:cNvSpPr>
          <p:nvPr/>
        </p:nvSpPr>
        <p:spPr>
          <a:xfrm>
            <a:off x="5219700" y="220980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72CFFF"/>
                </a:solidFill>
                <a:latin typeface="Azeret Mono"/>
                <a:ea typeface="Azeret Mono"/>
                <a:cs typeface="Azeret Mono"/>
              </a:defRPr>
            </a:pPr>
            <a:r>
              <a:rPr sz="825" b="1">
                <a:solidFill>
                  <a:srgbClr val="72CFFF"/>
                </a:solidFill>
                <a:latin typeface="Azeret Mono"/>
                <a:ea typeface="Azeret Mono"/>
                <a:cs typeface="Azeret Mono"/>
              </a:rPr>
              <a:t>MEMBER 4</a:t>
            </a:r>
            <a:endParaRPr sz="825" b="1">
              <a:solidFill>
                <a:srgbClr val="72CFFF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22" name="text-251"/>
          <p:cNvSpPr>
            <a:spLocks noGrp="1"/>
          </p:cNvSpPr>
          <p:nvPr/>
        </p:nvSpPr>
        <p:spPr>
          <a:xfrm>
            <a:off x="5219700" y="2571750"/>
            <a:ext cx="1581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45"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API / SSE / 证明</a:t>
            </a:r>
            <a:endParaRPr sz="1575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rect-252"/>
          <p:cNvSpPr>
            <a:spLocks noGrp="1"/>
          </p:cNvSpPr>
          <p:nvPr/>
        </p:nvSpPr>
        <p:spPr>
          <a:xfrm>
            <a:off x="5772150" y="2971800"/>
            <a:ext cx="476250" cy="476250"/>
          </a:xfrm>
          <a:prstGeom prst="ellipse">
            <a:avLst/>
          </a:prstGeom>
          <a:solidFill>
            <a:srgbClr val="F2EEE4"/>
          </a:solidFill>
          <a:ln w="28575">
            <a:solidFill>
              <a:srgbClr val="72CFFF"/>
            </a:solidFill>
            <a:prstDash val="solid"/>
          </a:ln>
        </p:spPr>
      </p:sp>
      <p:sp>
        <p:nvSpPr>
          <p:cNvPr id="24" name="text-253"/>
          <p:cNvSpPr>
            <a:spLocks noGrp="1"/>
          </p:cNvSpPr>
          <p:nvPr/>
        </p:nvSpPr>
        <p:spPr>
          <a:xfrm>
            <a:off x="5772150" y="309562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72CFFF"/>
                </a:solidFill>
                <a:latin typeface="Azeret Mono"/>
                <a:ea typeface="Azeret Mono"/>
                <a:cs typeface="Azeret Mono"/>
              </a:defRPr>
            </a:pPr>
            <a:r>
              <a:rPr sz="1350" b="1">
                <a:solidFill>
                  <a:srgbClr val="72CFFF"/>
                </a:solidFill>
                <a:latin typeface="Azeret Mono"/>
                <a:ea typeface="Azeret Mono"/>
                <a:cs typeface="Azeret Mono"/>
              </a:rPr>
              <a:t>3</a:t>
            </a:r>
            <a:endParaRPr sz="1350" b="1">
              <a:solidFill>
                <a:srgbClr val="72CFFF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25" name="text-254"/>
          <p:cNvSpPr>
            <a:spLocks noGrp="1"/>
          </p:cNvSpPr>
          <p:nvPr/>
        </p:nvSpPr>
        <p:spPr>
          <a:xfrm>
            <a:off x="5219700" y="3733800"/>
            <a:ext cx="1581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2000"/>
              </a:lnSpc>
              <a:buNone/>
              <a:def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FastAPI + ChainAgent</a:t>
            </a:r>
            <a:endParaRPr sz="105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2000"/>
              </a:lnSpc>
              <a:buNone/>
              <a:def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七步事件流</a:t>
            </a:r>
            <a:endParaRPr sz="105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2000"/>
              </a:lnSpc>
              <a:buNone/>
              <a:def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Merkle / report hash</a:t>
            </a:r>
            <a:endParaRPr sz="105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rect-255"/>
          <p:cNvSpPr>
            <a:spLocks noGrp="1"/>
          </p:cNvSpPr>
          <p:nvPr/>
        </p:nvSpPr>
        <p:spPr>
          <a:xfrm>
            <a:off x="7315200" y="2019300"/>
            <a:ext cx="1924050" cy="2724150"/>
          </a:xfrm>
          <a:prstGeom prst="roundRect">
            <a:avLst>
              <a:gd name="adj" fmla="val 4950"/>
            </a:avLst>
          </a:prstGeom>
          <a:solidFill>
            <a:srgbClr val="F7F3EA"/>
          </a:solidFill>
          <a:ln w="9525">
            <a:solidFill>
              <a:srgbClr val="CAC1B4"/>
            </a:solidFill>
            <a:prstDash val="solid"/>
          </a:ln>
        </p:spPr>
      </p:sp>
      <p:sp>
        <p:nvSpPr>
          <p:cNvPr id="27" name="text-256"/>
          <p:cNvSpPr>
            <a:spLocks noGrp="1"/>
          </p:cNvSpPr>
          <p:nvPr/>
        </p:nvSpPr>
        <p:spPr>
          <a:xfrm>
            <a:off x="7486650" y="220980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6E3FC8"/>
                </a:solidFill>
                <a:latin typeface="Azeret Mono"/>
                <a:ea typeface="Azeret Mono"/>
                <a:cs typeface="Azeret Mono"/>
              </a:defRPr>
            </a:pPr>
            <a:r>
              <a:rPr sz="825" b="1">
                <a:solidFill>
                  <a:srgbClr val="6E3FC8"/>
                </a:solidFill>
                <a:latin typeface="Azeret Mono"/>
                <a:ea typeface="Azeret Mono"/>
                <a:cs typeface="Azeret Mono"/>
              </a:rPr>
              <a:t>MEMBER 2</a:t>
            </a:r>
            <a:endParaRPr sz="825" b="1">
              <a:solidFill>
                <a:srgbClr val="6E3FC8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28" name="text-257"/>
          <p:cNvSpPr>
            <a:spLocks noGrp="1"/>
          </p:cNvSpPr>
          <p:nvPr/>
        </p:nvSpPr>
        <p:spPr>
          <a:xfrm>
            <a:off x="7486650" y="2571750"/>
            <a:ext cx="1581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产品前端</a:t>
            </a:r>
            <a:endParaRPr sz="1575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rect-258"/>
          <p:cNvSpPr>
            <a:spLocks noGrp="1"/>
          </p:cNvSpPr>
          <p:nvPr/>
        </p:nvSpPr>
        <p:spPr>
          <a:xfrm>
            <a:off x="8039100" y="2971800"/>
            <a:ext cx="476250" cy="476250"/>
          </a:xfrm>
          <a:prstGeom prst="ellipse">
            <a:avLst/>
          </a:prstGeom>
          <a:solidFill>
            <a:srgbClr val="F2EEE4"/>
          </a:solidFill>
          <a:ln w="28575">
            <a:solidFill>
              <a:srgbClr val="6E3FC8"/>
            </a:solidFill>
            <a:prstDash val="solid"/>
          </a:ln>
        </p:spPr>
      </p:sp>
      <p:sp>
        <p:nvSpPr>
          <p:cNvPr id="30" name="text-259"/>
          <p:cNvSpPr>
            <a:spLocks noGrp="1"/>
          </p:cNvSpPr>
          <p:nvPr/>
        </p:nvSpPr>
        <p:spPr>
          <a:xfrm>
            <a:off x="8039100" y="309562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6E3FC8"/>
                </a:solidFill>
                <a:latin typeface="Azeret Mono"/>
                <a:ea typeface="Azeret Mono"/>
                <a:cs typeface="Azeret Mono"/>
              </a:defRPr>
            </a:pPr>
            <a:r>
              <a:rPr sz="1350" b="1">
                <a:solidFill>
                  <a:srgbClr val="6E3FC8"/>
                </a:solidFill>
                <a:latin typeface="Azeret Mono"/>
                <a:ea typeface="Azeret Mono"/>
                <a:cs typeface="Azeret Mono"/>
              </a:rPr>
              <a:t>4</a:t>
            </a:r>
            <a:endParaRPr sz="1350" b="1">
              <a:solidFill>
                <a:srgbClr val="6E3FC8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31" name="text-260"/>
          <p:cNvSpPr>
            <a:spLocks noGrp="1"/>
          </p:cNvSpPr>
          <p:nvPr/>
        </p:nvSpPr>
        <p:spPr>
          <a:xfrm>
            <a:off x="7486650" y="3733800"/>
            <a:ext cx="1581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2000"/>
              </a:lnSpc>
              <a:buNone/>
              <a:def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Create / Execute</a:t>
            </a:r>
            <a:endParaRPr sz="105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2000"/>
              </a:lnSpc>
              <a:buNone/>
              <a:def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Report / Verify</a:t>
            </a:r>
            <a:endParaRPr sz="105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2000"/>
              </a:lnSpc>
              <a:buNone/>
              <a:def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任务隔离与 fail-closed</a:t>
            </a:r>
            <a:endParaRPr sz="105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rect-261"/>
          <p:cNvSpPr>
            <a:spLocks noGrp="1"/>
          </p:cNvSpPr>
          <p:nvPr/>
        </p:nvSpPr>
        <p:spPr>
          <a:xfrm>
            <a:off x="9582150" y="2019300"/>
            <a:ext cx="1924050" cy="2724150"/>
          </a:xfrm>
          <a:prstGeom prst="roundRect">
            <a:avLst>
              <a:gd name="adj" fmla="val 4950"/>
            </a:avLst>
          </a:prstGeom>
          <a:solidFill>
            <a:srgbClr val="EAE3D8"/>
          </a:solidFill>
          <a:ln w="9525">
            <a:solidFill>
              <a:srgbClr val="CAC1B4"/>
            </a:solidFill>
            <a:prstDash val="solid"/>
          </a:ln>
        </p:spPr>
      </p:sp>
      <p:sp>
        <p:nvSpPr>
          <p:cNvPr id="33" name="text-262"/>
          <p:cNvSpPr>
            <a:spLocks noGrp="1"/>
          </p:cNvSpPr>
          <p:nvPr/>
        </p:nvSpPr>
        <p:spPr>
          <a:xfrm>
            <a:off x="9753600" y="220980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1A8D4B"/>
                </a:solidFill>
                <a:latin typeface="Azeret Mono"/>
                <a:ea typeface="Azeret Mono"/>
                <a:cs typeface="Azeret Mono"/>
              </a:defRPr>
            </a:pPr>
            <a:r>
              <a:rPr sz="825" b="1">
                <a:solidFill>
                  <a:srgbClr val="1A8D4B"/>
                </a:solidFill>
                <a:latin typeface="Azeret Mono"/>
                <a:ea typeface="Azeret Mono"/>
                <a:cs typeface="Azeret Mono"/>
              </a:rPr>
              <a:t>MEMBER 5</a:t>
            </a:r>
            <a:endParaRPr sz="825" b="1">
              <a:solidFill>
                <a:srgbClr val="1A8D4B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34" name="text-263"/>
          <p:cNvSpPr>
            <a:spLocks noGrp="1"/>
          </p:cNvSpPr>
          <p:nvPr/>
        </p:nvSpPr>
        <p:spPr>
          <a:xfrm>
            <a:off x="9753600" y="2571750"/>
            <a:ext cx="1581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SDK / 合约</a:t>
            </a:r>
            <a:endParaRPr sz="1575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rect-264"/>
          <p:cNvSpPr>
            <a:spLocks noGrp="1"/>
          </p:cNvSpPr>
          <p:nvPr/>
        </p:nvSpPr>
        <p:spPr>
          <a:xfrm>
            <a:off x="10306050" y="2971800"/>
            <a:ext cx="476250" cy="476250"/>
          </a:xfrm>
          <a:prstGeom prst="ellipse">
            <a:avLst/>
          </a:prstGeom>
          <a:solidFill>
            <a:srgbClr val="F2EEE4"/>
          </a:solidFill>
          <a:ln w="28575">
            <a:solidFill>
              <a:srgbClr val="1A8D4B"/>
            </a:solidFill>
            <a:prstDash val="solid"/>
          </a:ln>
        </p:spPr>
      </p:sp>
      <p:sp>
        <p:nvSpPr>
          <p:cNvPr id="36" name="text-265"/>
          <p:cNvSpPr>
            <a:spLocks noGrp="1"/>
          </p:cNvSpPr>
          <p:nvPr/>
        </p:nvSpPr>
        <p:spPr>
          <a:xfrm>
            <a:off x="10306050" y="309562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1A8D4B"/>
                </a:solidFill>
                <a:latin typeface="Azeret Mono"/>
                <a:ea typeface="Azeret Mono"/>
                <a:cs typeface="Azeret Mono"/>
              </a:defRPr>
            </a:pPr>
            <a:r>
              <a:rPr sz="1350" b="1">
                <a:solidFill>
                  <a:srgbClr val="1A8D4B"/>
                </a:solidFill>
                <a:latin typeface="Azeret Mono"/>
                <a:ea typeface="Azeret Mono"/>
                <a:cs typeface="Azeret Mono"/>
              </a:rPr>
              <a:t>5</a:t>
            </a:r>
            <a:endParaRPr sz="1350" b="1">
              <a:solidFill>
                <a:srgbClr val="1A8D4B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37" name="text-266"/>
          <p:cNvSpPr>
            <a:spLocks noGrp="1"/>
          </p:cNvSpPr>
          <p:nvPr/>
        </p:nvSpPr>
        <p:spPr>
          <a:xfrm>
            <a:off x="9753600" y="3733800"/>
            <a:ext cx="1581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2000"/>
              </a:lnSpc>
              <a:buNone/>
              <a:def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严格四项验伪</a:t>
            </a:r>
            <a:endParaRPr sz="105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2000"/>
              </a:lnSpc>
              <a:buNone/>
              <a:def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Attestation.sol</a:t>
            </a:r>
            <a:endParaRPr sz="105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2000"/>
              </a:lnSpc>
              <a:buNone/>
              <a:def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可信配置边界</a:t>
            </a:r>
            <a:endParaRPr sz="1050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rect-267"/>
          <p:cNvSpPr>
            <a:spLocks noGrp="1"/>
          </p:cNvSpPr>
          <p:nvPr/>
        </p:nvSpPr>
        <p:spPr>
          <a:xfrm>
            <a:off x="514350" y="5124450"/>
            <a:ext cx="10991850" cy="971550"/>
          </a:xfrm>
          <a:prstGeom prst="roundRect">
            <a:avLst>
              <a:gd name="adj" fmla="val 9804"/>
            </a:avLst>
          </a:prstGeom>
          <a:solidFill>
            <a:srgbClr val="171A18"/>
          </a:solidFill>
          <a:ln w="0">
            <a:solidFill>
              <a:srgbClr val="171A18"/>
            </a:solidFill>
            <a:prstDash val="solid"/>
          </a:ln>
        </p:spPr>
      </p:sp>
      <p:sp>
        <p:nvSpPr>
          <p:cNvPr id="39" name="text-268"/>
          <p:cNvSpPr>
            <a:spLocks noGrp="1"/>
          </p:cNvSpPr>
          <p:nvPr/>
        </p:nvSpPr>
        <p:spPr>
          <a:xfrm>
            <a:off x="723900" y="53149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统一契约</a:t>
            </a:r>
            <a:endParaRPr sz="1125" b="1">
              <a:solidFill>
                <a:srgbClr val="A87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text-269"/>
          <p:cNvSpPr>
            <a:spLocks noGrp="1"/>
          </p:cNvSpPr>
          <p:nvPr/>
        </p:nvSpPr>
        <p:spPr>
          <a:xfrm>
            <a:off x="1943100" y="5276850"/>
            <a:ext cx="899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Python、浏览器与 Solidity 对 canonical JSON、Ethereum Keccak-256 和七步顺序采用同一协议</a:t>
            </a:r>
            <a:endParaRPr sz="142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text-270"/>
          <p:cNvSpPr>
            <a:spLocks noGrp="1"/>
          </p:cNvSpPr>
          <p:nvPr/>
        </p:nvSpPr>
        <p:spPr>
          <a:xfrm>
            <a:off x="1943100" y="5676900"/>
            <a:ext cx="899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同一份报告可被后端生成、前端重算、SDK 验伪，并在可信部署后选择性锚定</a:t>
            </a:r>
            <a:endParaRPr sz="112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271"/>
          <p:cNvSpPr>
            <a:spLocks noGrp="1"/>
          </p:cNvSpPr>
          <p:nvPr/>
        </p:nvSpPr>
        <p:spPr>
          <a:xfrm>
            <a:off x="495300" y="381000"/>
            <a:ext cx="590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ENGINEERING EVIDENCE</a:t>
            </a:r>
            <a:endParaRPr sz="900" b="1">
              <a:solidFill>
                <a:srgbClr val="A87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272"/>
          <p:cNvSpPr>
            <a:spLocks noGrp="1"/>
          </p:cNvSpPr>
          <p:nvPr/>
        </p:nvSpPr>
        <p:spPr>
          <a:xfrm>
            <a:off x="495300" y="60960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0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工程可信度：286 项检查通过，0 项失败</a:t>
            </a:r>
            <a:endParaRPr sz="3000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line-273"/>
          <p:cNvSpPr>
            <a:spLocks noGrp="1"/>
          </p:cNvSpPr>
          <p:nvPr/>
        </p:nvSpPr>
        <p:spPr>
          <a:xfrm>
            <a:off x="495300" y="1257300"/>
            <a:ext cx="1120140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5" name="text-274"/>
          <p:cNvSpPr>
            <a:spLocks noGrp="1"/>
          </p:cNvSpPr>
          <p:nvPr/>
        </p:nvSpPr>
        <p:spPr>
          <a:xfrm>
            <a:off x="495300" y="65151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77807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77807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FLUXAUDIT · AI × WEB3</a:t>
            </a:r>
            <a:endParaRPr sz="825" b="1">
              <a:solidFill>
                <a:srgbClr val="77807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-275"/>
          <p:cNvSpPr>
            <a:spLocks noGrp="1"/>
          </p:cNvSpPr>
          <p:nvPr/>
        </p:nvSpPr>
        <p:spPr>
          <a:xfrm>
            <a:off x="113728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77807E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77807E"/>
                </a:solidFill>
                <a:latin typeface="Azeret Mono"/>
                <a:ea typeface="Azeret Mono"/>
                <a:cs typeface="Azeret Mono"/>
              </a:rPr>
              <a:t>11</a:t>
            </a:r>
            <a:endParaRPr sz="900" b="1">
              <a:solidFill>
                <a:srgbClr val="77807E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7" name="text-276"/>
          <p:cNvSpPr>
            <a:spLocks noGrp="1"/>
          </p:cNvSpPr>
          <p:nvPr/>
        </p:nvSpPr>
        <p:spPr>
          <a:xfrm>
            <a:off x="514350" y="1619250"/>
            <a:ext cx="3048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100" b="1">
                <a:solidFill>
                  <a:srgbClr val="F5F6F2"/>
                </a:solidFill>
                <a:latin typeface="Azeret Mono"/>
                <a:ea typeface="Azeret Mono"/>
                <a:cs typeface="Azeret Mono"/>
              </a:defRPr>
            </a:pPr>
            <a:r>
              <a:rPr sz="8100" b="1">
                <a:solidFill>
                  <a:srgbClr val="F5F6F2"/>
                </a:solidFill>
                <a:latin typeface="Azeret Mono"/>
                <a:ea typeface="Azeret Mono"/>
                <a:cs typeface="Azeret Mono"/>
              </a:rPr>
              <a:t>286</a:t>
            </a:r>
            <a:endParaRPr sz="8100" b="1">
              <a:solidFill>
                <a:srgbClr val="F5F6F2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8" name="text-277"/>
          <p:cNvSpPr>
            <a:spLocks noGrp="1"/>
          </p:cNvSpPr>
          <p:nvPr/>
        </p:nvSpPr>
        <p:spPr>
          <a:xfrm>
            <a:off x="590550" y="28765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A879FF"/>
                </a:solidFill>
                <a:latin typeface="Azeret Mono"/>
                <a:ea typeface="Azeret Mono"/>
                <a:cs typeface="Azeret Mono"/>
              </a:defRPr>
            </a:pPr>
            <a:r>
              <a:rPr sz="1050" b="1">
                <a:solidFill>
                  <a:srgbClr val="A879FF"/>
                </a:solidFill>
                <a:latin typeface="Azeret Mono"/>
                <a:ea typeface="Azeret Mono"/>
                <a:cs typeface="Azeret Mono"/>
              </a:rPr>
              <a:t>AUTOMATED CHECKS</a:t>
            </a:r>
            <a:endParaRPr sz="1050" b="1">
              <a:solidFill>
                <a:srgbClr val="A879FF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9" name="rect-278"/>
          <p:cNvSpPr>
            <a:spLocks noGrp="1"/>
          </p:cNvSpPr>
          <p:nvPr/>
        </p:nvSpPr>
        <p:spPr>
          <a:xfrm>
            <a:off x="571500" y="3333750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0B1D12"/>
          </a:solidFill>
          <a:ln w="9525">
            <a:solidFill>
              <a:srgbClr val="235B39"/>
            </a:solidFill>
            <a:prstDash val="solid"/>
          </a:ln>
        </p:spPr>
        <p:txBody>
          <a:bodyPr lIns="76200" tIns="19050" rIns="76200" bIns="19050" anchor="ctr">
            <a:normAutofit/>
          </a:bodyPr>
          <a:lstStyle/>
          <a:p>
            <a:pPr algn="ctr">
              <a:defRPr sz="900" b="1">
                <a:solidFill>
                  <a:srgbClr val="39D7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39D7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 FAIL</a:t>
            </a:r>
            <a:endParaRPr sz="900" b="1">
              <a:solidFill>
                <a:srgbClr val="39D7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279"/>
          <p:cNvSpPr>
            <a:spLocks noGrp="1"/>
          </p:cNvSpPr>
          <p:nvPr/>
        </p:nvSpPr>
        <p:spPr>
          <a:xfrm>
            <a:off x="571500" y="3829050"/>
            <a:ext cx="29908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988"/>
          </a:bodyPr>
          <a:lstStyle/>
          <a:p>
            <a:pPr algn="l">
              <a:lnSpc>
                <a:spcPct val="138000"/>
              </a:lnSpc>
              <a:buNone/>
              <a:defRPr sz="127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覆盖 Agent、API、哈希协议、前端状态机、SDK 与 Solidity 合约。</a:t>
            </a:r>
            <a:endParaRPr sz="127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line-280"/>
          <p:cNvSpPr>
            <a:spLocks noGrp="1"/>
          </p:cNvSpPr>
          <p:nvPr/>
        </p:nvSpPr>
        <p:spPr>
          <a:xfrm>
            <a:off x="3943350" y="1543050"/>
            <a:ext cx="0" cy="401955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12" name="text-281"/>
          <p:cNvSpPr>
            <a:spLocks noGrp="1"/>
          </p:cNvSpPr>
          <p:nvPr/>
        </p:nvSpPr>
        <p:spPr>
          <a:xfrm>
            <a:off x="4324350" y="1695450"/>
            <a:ext cx="114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A879FF"/>
                </a:solidFill>
                <a:latin typeface="Azeret Mono"/>
                <a:ea typeface="Azeret Mono"/>
                <a:cs typeface="Azeret Mono"/>
              </a:defRPr>
            </a:pPr>
            <a:r>
              <a:rPr sz="3600" b="1">
                <a:solidFill>
                  <a:srgbClr val="A879FF"/>
                </a:solidFill>
                <a:latin typeface="Azeret Mono"/>
                <a:ea typeface="Azeret Mono"/>
                <a:cs typeface="Azeret Mono"/>
              </a:rPr>
              <a:t>68</a:t>
            </a:r>
            <a:endParaRPr sz="3600" b="1">
              <a:solidFill>
                <a:srgbClr val="A879FF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3" name="text-282"/>
          <p:cNvSpPr>
            <a:spLocks noGrp="1"/>
          </p:cNvSpPr>
          <p:nvPr/>
        </p:nvSpPr>
        <p:spPr>
          <a:xfrm>
            <a:off x="5581650" y="17716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Agent</a:t>
            </a:r>
            <a:endParaRPr sz="172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line-283"/>
          <p:cNvSpPr>
            <a:spLocks noGrp="1"/>
          </p:cNvSpPr>
          <p:nvPr/>
        </p:nvSpPr>
        <p:spPr>
          <a:xfrm>
            <a:off x="4324350" y="2419350"/>
            <a:ext cx="304800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15" name="text-284"/>
          <p:cNvSpPr>
            <a:spLocks noGrp="1"/>
          </p:cNvSpPr>
          <p:nvPr/>
        </p:nvSpPr>
        <p:spPr>
          <a:xfrm>
            <a:off x="4324350" y="2609850"/>
            <a:ext cx="304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  <a:def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解析、交叉核验、评分与 LLM 回退</a:t>
            </a:r>
            <a:endParaRPr sz="112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285"/>
          <p:cNvSpPr>
            <a:spLocks noGrp="1"/>
          </p:cNvSpPr>
          <p:nvPr/>
        </p:nvSpPr>
        <p:spPr>
          <a:xfrm>
            <a:off x="7886700" y="1695450"/>
            <a:ext cx="114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A879FF"/>
                </a:solidFill>
                <a:latin typeface="Azeret Mono"/>
                <a:ea typeface="Azeret Mono"/>
                <a:cs typeface="Azeret Mono"/>
              </a:defRPr>
            </a:pPr>
            <a:r>
              <a:rPr sz="3600" b="1">
                <a:solidFill>
                  <a:srgbClr val="A879FF"/>
                </a:solidFill>
                <a:latin typeface="Azeret Mono"/>
                <a:ea typeface="Azeret Mono"/>
                <a:cs typeface="Azeret Mono"/>
              </a:rPr>
              <a:t>93</a:t>
            </a:r>
            <a:endParaRPr sz="3600" b="1">
              <a:solidFill>
                <a:srgbClr val="A879FF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7" name="text-286"/>
          <p:cNvSpPr>
            <a:spLocks noGrp="1"/>
          </p:cNvSpPr>
          <p:nvPr/>
        </p:nvSpPr>
        <p:spPr>
          <a:xfrm>
            <a:off x="9144000" y="17716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Backend</a:t>
            </a:r>
            <a:endParaRPr sz="172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line-287"/>
          <p:cNvSpPr>
            <a:spLocks noGrp="1"/>
          </p:cNvSpPr>
          <p:nvPr/>
        </p:nvSpPr>
        <p:spPr>
          <a:xfrm>
            <a:off x="7886700" y="2419350"/>
            <a:ext cx="304800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19" name="text-288"/>
          <p:cNvSpPr>
            <a:spLocks noGrp="1"/>
          </p:cNvSpPr>
          <p:nvPr/>
        </p:nvSpPr>
        <p:spPr>
          <a:xfrm>
            <a:off x="7886700" y="2609850"/>
            <a:ext cx="304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  <a:def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ChainAgent、哈希与 API 闭环</a:t>
            </a:r>
            <a:endParaRPr sz="112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-289"/>
          <p:cNvSpPr>
            <a:spLocks noGrp="1"/>
          </p:cNvSpPr>
          <p:nvPr/>
        </p:nvSpPr>
        <p:spPr>
          <a:xfrm>
            <a:off x="4324350" y="3619500"/>
            <a:ext cx="114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A879FF"/>
                </a:solidFill>
                <a:latin typeface="Azeret Mono"/>
                <a:ea typeface="Azeret Mono"/>
                <a:cs typeface="Azeret Mono"/>
              </a:defRPr>
            </a:pPr>
            <a:r>
              <a:rPr sz="3600" b="1">
                <a:solidFill>
                  <a:srgbClr val="A879FF"/>
                </a:solidFill>
                <a:latin typeface="Azeret Mono"/>
                <a:ea typeface="Azeret Mono"/>
                <a:cs typeface="Azeret Mono"/>
              </a:rPr>
              <a:t>30</a:t>
            </a:r>
            <a:endParaRPr sz="3600" b="1">
              <a:solidFill>
                <a:srgbClr val="A879FF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21" name="text-290"/>
          <p:cNvSpPr>
            <a:spLocks noGrp="1"/>
          </p:cNvSpPr>
          <p:nvPr/>
        </p:nvSpPr>
        <p:spPr>
          <a:xfrm>
            <a:off x="5581650" y="36957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Frontend</a:t>
            </a:r>
            <a:endParaRPr sz="172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line-291"/>
          <p:cNvSpPr>
            <a:spLocks noGrp="1"/>
          </p:cNvSpPr>
          <p:nvPr/>
        </p:nvSpPr>
        <p:spPr>
          <a:xfrm>
            <a:off x="4324350" y="4343400"/>
            <a:ext cx="304800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23" name="text-292"/>
          <p:cNvSpPr>
            <a:spLocks noGrp="1"/>
          </p:cNvSpPr>
          <p:nvPr/>
        </p:nvSpPr>
        <p:spPr>
          <a:xfrm>
            <a:off x="4324350" y="4533900"/>
            <a:ext cx="304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  <a:def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证明、任务隔离、SDK 集成、构建</a:t>
            </a:r>
            <a:endParaRPr sz="112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-293"/>
          <p:cNvSpPr>
            <a:spLocks noGrp="1"/>
          </p:cNvSpPr>
          <p:nvPr/>
        </p:nvSpPr>
        <p:spPr>
          <a:xfrm>
            <a:off x="7886700" y="3619500"/>
            <a:ext cx="114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39D77D"/>
                </a:solidFill>
                <a:latin typeface="Azeret Mono"/>
                <a:ea typeface="Azeret Mono"/>
                <a:cs typeface="Azeret Mono"/>
              </a:defRPr>
            </a:pPr>
            <a:r>
              <a:rPr sz="3600" b="1">
                <a:solidFill>
                  <a:srgbClr val="39D77D"/>
                </a:solidFill>
                <a:latin typeface="Azeret Mono"/>
                <a:ea typeface="Azeret Mono"/>
                <a:cs typeface="Azeret Mono"/>
              </a:rPr>
              <a:t>95</a:t>
            </a:r>
            <a:endParaRPr sz="3600" b="1">
              <a:solidFill>
                <a:srgbClr val="39D77D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25" name="text-294"/>
          <p:cNvSpPr>
            <a:spLocks noGrp="1"/>
          </p:cNvSpPr>
          <p:nvPr/>
        </p:nvSpPr>
        <p:spPr>
          <a:xfrm>
            <a:off x="9144000" y="36957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SDK + Contract</a:t>
            </a:r>
            <a:endParaRPr sz="172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line-295"/>
          <p:cNvSpPr>
            <a:spLocks noGrp="1"/>
          </p:cNvSpPr>
          <p:nvPr/>
        </p:nvSpPr>
        <p:spPr>
          <a:xfrm>
            <a:off x="7886700" y="4343400"/>
            <a:ext cx="304800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27" name="text-296"/>
          <p:cNvSpPr>
            <a:spLocks noGrp="1"/>
          </p:cNvSpPr>
          <p:nvPr/>
        </p:nvSpPr>
        <p:spPr>
          <a:xfrm>
            <a:off x="7886700" y="4533900"/>
            <a:ext cx="304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  <a:def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协议、篡改、合约与打包冒烟</a:t>
            </a:r>
            <a:endParaRPr sz="112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rect-297"/>
          <p:cNvSpPr>
            <a:spLocks noGrp="1"/>
          </p:cNvSpPr>
          <p:nvPr/>
        </p:nvSpPr>
        <p:spPr>
          <a:xfrm>
            <a:off x="4324350" y="5524500"/>
            <a:ext cx="6610350" cy="571500"/>
          </a:xfrm>
          <a:prstGeom prst="roundRect">
            <a:avLst>
              <a:gd name="adj" fmla="val 13333"/>
            </a:avLst>
          </a:prstGeom>
          <a:solidFill>
            <a:srgbClr val="131A1F"/>
          </a:solidFill>
          <a:ln w="9525">
            <a:solidFill>
              <a:srgbClr val="263036"/>
            </a:solidFill>
            <a:prstDash val="solid"/>
          </a:ln>
        </p:spPr>
      </p:sp>
      <p:sp>
        <p:nvSpPr>
          <p:cNvPr id="29" name="text-298"/>
          <p:cNvSpPr>
            <a:spLocks noGrp="1"/>
          </p:cNvSpPr>
          <p:nvPr/>
        </p:nvSpPr>
        <p:spPr>
          <a:xfrm>
            <a:off x="4514850" y="5705475"/>
            <a:ext cx="1447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FF5465"/>
                </a:solidFill>
                <a:latin typeface="Azeret Mono"/>
                <a:ea typeface="Azeret Mono"/>
                <a:cs typeface="Azeret Mono"/>
              </a:defRPr>
            </a:pPr>
            <a:r>
              <a:rPr sz="825" b="1">
                <a:solidFill>
                  <a:srgbClr val="FF5465"/>
                </a:solidFill>
                <a:latin typeface="Azeret Mono"/>
                <a:ea typeface="Azeret Mono"/>
                <a:cs typeface="Azeret Mono"/>
              </a:rPr>
              <a:t>ADVERSARIAL QA</a:t>
            </a:r>
            <a:endParaRPr sz="825" b="1">
              <a:solidFill>
                <a:srgbClr val="FF5465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30" name="text-299"/>
          <p:cNvSpPr>
            <a:spLocks noGrp="1"/>
          </p:cNvSpPr>
          <p:nvPr/>
        </p:nvSpPr>
        <p:spPr>
          <a:xfrm>
            <a:off x="6134100" y="565785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tampered · legacy · missing manifest · short-chain bypass  全部拒绝</a:t>
            </a:r>
            <a:endParaRPr sz="1200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300"/>
          <p:cNvSpPr>
            <a:spLocks noGrp="1"/>
          </p:cNvSpPr>
          <p:nvPr/>
        </p:nvSpPr>
        <p:spPr>
          <a:xfrm>
            <a:off x="495300" y="381000"/>
            <a:ext cx="590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TRUST BOUNDARY</a:t>
            </a:r>
            <a:endParaRPr sz="90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301"/>
          <p:cNvSpPr>
            <a:spLocks noGrp="1"/>
          </p:cNvSpPr>
          <p:nvPr/>
        </p:nvSpPr>
        <p:spPr>
          <a:xfrm>
            <a:off x="495300" y="60960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0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我们明确说明：证明能证明什么，也不能证明什么</a:t>
            </a:r>
            <a:endParaRPr sz="300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line-302"/>
          <p:cNvSpPr>
            <a:spLocks noGrp="1"/>
          </p:cNvSpPr>
          <p:nvPr/>
        </p:nvSpPr>
        <p:spPr>
          <a:xfrm>
            <a:off x="495300" y="1257300"/>
            <a:ext cx="1120140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5" name="text-303"/>
          <p:cNvSpPr>
            <a:spLocks noGrp="1"/>
          </p:cNvSpPr>
          <p:nvPr/>
        </p:nvSpPr>
        <p:spPr>
          <a:xfrm>
            <a:off x="495300" y="65151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777A7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777A7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FLUXAUDIT · AI × WEB3</a:t>
            </a:r>
            <a:endParaRPr sz="825" b="1">
              <a:solidFill>
                <a:srgbClr val="777A7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-304"/>
          <p:cNvSpPr>
            <a:spLocks noGrp="1"/>
          </p:cNvSpPr>
          <p:nvPr/>
        </p:nvSpPr>
        <p:spPr>
          <a:xfrm>
            <a:off x="113728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777A74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777A74"/>
                </a:solidFill>
                <a:latin typeface="Azeret Mono"/>
                <a:ea typeface="Azeret Mono"/>
                <a:cs typeface="Azeret Mono"/>
              </a:rPr>
              <a:t>12</a:t>
            </a:r>
            <a:endParaRPr sz="900" b="1">
              <a:solidFill>
                <a:srgbClr val="777A74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7" name="text-305"/>
          <p:cNvSpPr>
            <a:spLocks noGrp="1"/>
          </p:cNvSpPr>
          <p:nvPr/>
        </p:nvSpPr>
        <p:spPr>
          <a:xfrm>
            <a:off x="590550" y="1657350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17663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7663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证明了</a:t>
            </a:r>
            <a:endParaRPr sz="2100" b="1">
              <a:solidFill>
                <a:srgbClr val="17663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-306"/>
          <p:cNvSpPr>
            <a:spLocks noGrp="1"/>
          </p:cNvSpPr>
          <p:nvPr/>
        </p:nvSpPr>
        <p:spPr>
          <a:xfrm>
            <a:off x="6438900" y="1657350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9C65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9C65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不声称</a:t>
            </a:r>
            <a:endParaRPr sz="2100" b="1">
              <a:solidFill>
                <a:srgbClr val="9C65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line-307"/>
          <p:cNvSpPr>
            <a:spLocks noGrp="1"/>
          </p:cNvSpPr>
          <p:nvPr/>
        </p:nvSpPr>
        <p:spPr>
          <a:xfrm>
            <a:off x="6096000" y="1581150"/>
            <a:ext cx="0" cy="394335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10" name="text-308"/>
          <p:cNvSpPr>
            <a:spLocks noGrp="1"/>
          </p:cNvSpPr>
          <p:nvPr/>
        </p:nvSpPr>
        <p:spPr>
          <a:xfrm>
            <a:off x="590550" y="2286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1A8D4B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1A8D4B"/>
                </a:solidFill>
                <a:latin typeface="Azeret Mono"/>
                <a:ea typeface="Azeret Mono"/>
                <a:cs typeface="Azeret Mono"/>
              </a:rPr>
              <a:t>01</a:t>
            </a:r>
            <a:endParaRPr sz="900" b="1">
              <a:solidFill>
                <a:srgbClr val="1A8D4B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1" name="text-309"/>
          <p:cNvSpPr>
            <a:spLocks noGrp="1"/>
          </p:cNvSpPr>
          <p:nvPr/>
        </p:nvSpPr>
        <p:spPr>
          <a:xfrm>
            <a:off x="1143000" y="2266950"/>
            <a:ext cx="424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报告内容完整性</a:t>
            </a:r>
            <a:endParaRPr sz="150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-310"/>
          <p:cNvSpPr>
            <a:spLocks noGrp="1"/>
          </p:cNvSpPr>
          <p:nvPr/>
        </p:nvSpPr>
        <p:spPr>
          <a:xfrm>
            <a:off x="1143000" y="2609850"/>
            <a:ext cx="424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125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任意内容或 proof_data 改动都会改变 report hash。</a:t>
            </a:r>
            <a:endParaRPr sz="1125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line-311"/>
          <p:cNvSpPr>
            <a:spLocks noGrp="1"/>
          </p:cNvSpPr>
          <p:nvPr/>
        </p:nvSpPr>
        <p:spPr>
          <a:xfrm>
            <a:off x="590550" y="3162300"/>
            <a:ext cx="4838700" cy="0"/>
          </a:xfrm>
          <a:prstGeom prst="line">
            <a:avLst/>
          </a:prstGeom>
          <a:noFill/>
          <a:ln w="9525">
            <a:solidFill>
              <a:srgbClr val="D7CFC2"/>
            </a:solidFill>
            <a:prstDash val="solid"/>
          </a:ln>
        </p:spPr>
      </p:sp>
      <p:sp>
        <p:nvSpPr>
          <p:cNvPr id="14" name="text-312"/>
          <p:cNvSpPr>
            <a:spLocks noGrp="1"/>
          </p:cNvSpPr>
          <p:nvPr/>
        </p:nvSpPr>
        <p:spPr>
          <a:xfrm>
            <a:off x="590550" y="33528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1A8D4B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1A8D4B"/>
                </a:solidFill>
                <a:latin typeface="Azeret Mono"/>
                <a:ea typeface="Azeret Mono"/>
                <a:cs typeface="Azeret Mono"/>
              </a:rPr>
              <a:t>02</a:t>
            </a:r>
            <a:endParaRPr sz="900" b="1">
              <a:solidFill>
                <a:srgbClr val="1A8D4B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5" name="text-313"/>
          <p:cNvSpPr>
            <a:spLocks noGrp="1"/>
          </p:cNvSpPr>
          <p:nvPr/>
        </p:nvSpPr>
        <p:spPr>
          <a:xfrm>
            <a:off x="1143000" y="3333750"/>
            <a:ext cx="424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七步连续与顺序</a:t>
            </a:r>
            <a:endParaRPr sz="150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-314"/>
          <p:cNvSpPr>
            <a:spLocks noGrp="1"/>
          </p:cNvSpPr>
          <p:nvPr/>
        </p:nvSpPr>
        <p:spPr>
          <a:xfrm>
            <a:off x="1143000" y="3676650"/>
            <a:ext cx="424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125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输入、输出、来源、证据与时间戳可被重算。</a:t>
            </a:r>
            <a:endParaRPr sz="1125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line-315"/>
          <p:cNvSpPr>
            <a:spLocks noGrp="1"/>
          </p:cNvSpPr>
          <p:nvPr/>
        </p:nvSpPr>
        <p:spPr>
          <a:xfrm>
            <a:off x="590550" y="4229100"/>
            <a:ext cx="4838700" cy="0"/>
          </a:xfrm>
          <a:prstGeom prst="line">
            <a:avLst/>
          </a:prstGeom>
          <a:noFill/>
          <a:ln w="9525">
            <a:solidFill>
              <a:srgbClr val="D7CFC2"/>
            </a:solidFill>
            <a:prstDash val="solid"/>
          </a:ln>
        </p:spPr>
      </p:sp>
      <p:sp>
        <p:nvSpPr>
          <p:cNvPr id="18" name="text-316"/>
          <p:cNvSpPr>
            <a:spLocks noGrp="1"/>
          </p:cNvSpPr>
          <p:nvPr/>
        </p:nvSpPr>
        <p:spPr>
          <a:xfrm>
            <a:off x="590550" y="44196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1A8D4B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1A8D4B"/>
                </a:solidFill>
                <a:latin typeface="Azeret Mono"/>
                <a:ea typeface="Azeret Mono"/>
                <a:cs typeface="Azeret Mono"/>
              </a:rPr>
              <a:t>03</a:t>
            </a:r>
            <a:endParaRPr sz="900" b="1">
              <a:solidFill>
                <a:srgbClr val="1A8D4B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9" name="text-317"/>
          <p:cNvSpPr>
            <a:spLocks noGrp="1"/>
          </p:cNvSpPr>
          <p:nvPr/>
        </p:nvSpPr>
        <p:spPr>
          <a:xfrm>
            <a:off x="1143000" y="4400550"/>
            <a:ext cx="424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可信注册记录</a:t>
            </a:r>
            <a:endParaRPr sz="150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-318"/>
          <p:cNvSpPr>
            <a:spLocks noGrp="1"/>
          </p:cNvSpPr>
          <p:nvPr/>
        </p:nvSpPr>
        <p:spPr>
          <a:xfrm>
            <a:off x="1143000" y="4743450"/>
            <a:ext cx="424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125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仅在配置真实合约、auditor 与 RPC 后成立。</a:t>
            </a:r>
            <a:endParaRPr sz="1125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line-319"/>
          <p:cNvSpPr>
            <a:spLocks noGrp="1"/>
          </p:cNvSpPr>
          <p:nvPr/>
        </p:nvSpPr>
        <p:spPr>
          <a:xfrm>
            <a:off x="590550" y="5295900"/>
            <a:ext cx="4838700" cy="0"/>
          </a:xfrm>
          <a:prstGeom prst="line">
            <a:avLst/>
          </a:prstGeom>
          <a:noFill/>
          <a:ln w="9525">
            <a:solidFill>
              <a:srgbClr val="D7CFC2"/>
            </a:solidFill>
            <a:prstDash val="solid"/>
          </a:ln>
        </p:spPr>
      </p:sp>
      <p:sp>
        <p:nvSpPr>
          <p:cNvPr id="22" name="text-320"/>
          <p:cNvSpPr>
            <a:spLocks noGrp="1"/>
          </p:cNvSpPr>
          <p:nvPr/>
        </p:nvSpPr>
        <p:spPr>
          <a:xfrm>
            <a:off x="6438900" y="2286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B07219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B07219"/>
                </a:solidFill>
                <a:latin typeface="Azeret Mono"/>
                <a:ea typeface="Azeret Mono"/>
                <a:cs typeface="Azeret Mono"/>
              </a:rPr>
              <a:t>01</a:t>
            </a:r>
            <a:endParaRPr sz="900" b="1">
              <a:solidFill>
                <a:srgbClr val="B07219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23" name="text-321"/>
          <p:cNvSpPr>
            <a:spLocks noGrp="1"/>
          </p:cNvSpPr>
          <p:nvPr/>
        </p:nvSpPr>
        <p:spPr>
          <a:xfrm>
            <a:off x="6991350" y="2266950"/>
            <a:ext cx="424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模型判断必然正确</a:t>
            </a:r>
            <a:endParaRPr sz="150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-322"/>
          <p:cNvSpPr>
            <a:spLocks noGrp="1"/>
          </p:cNvSpPr>
          <p:nvPr/>
        </p:nvSpPr>
        <p:spPr>
          <a:xfrm>
            <a:off x="6991350" y="2609850"/>
            <a:ext cx="424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125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密码学完整性不等于事实判断永远正确。</a:t>
            </a:r>
            <a:endParaRPr sz="1125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line-323"/>
          <p:cNvSpPr>
            <a:spLocks noGrp="1"/>
          </p:cNvSpPr>
          <p:nvPr/>
        </p:nvSpPr>
        <p:spPr>
          <a:xfrm>
            <a:off x="6438900" y="3162300"/>
            <a:ext cx="4838700" cy="0"/>
          </a:xfrm>
          <a:prstGeom prst="line">
            <a:avLst/>
          </a:prstGeom>
          <a:noFill/>
          <a:ln w="9525">
            <a:solidFill>
              <a:srgbClr val="D7CFC2"/>
            </a:solidFill>
            <a:prstDash val="solid"/>
          </a:ln>
        </p:spPr>
      </p:sp>
      <p:sp>
        <p:nvSpPr>
          <p:cNvPr id="26" name="text-324"/>
          <p:cNvSpPr>
            <a:spLocks noGrp="1"/>
          </p:cNvSpPr>
          <p:nvPr/>
        </p:nvSpPr>
        <p:spPr>
          <a:xfrm>
            <a:off x="6438900" y="33528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B07219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B07219"/>
                </a:solidFill>
                <a:latin typeface="Azeret Mono"/>
                <a:ea typeface="Azeret Mono"/>
                <a:cs typeface="Azeret Mono"/>
              </a:rPr>
              <a:t>02</a:t>
            </a:r>
            <a:endParaRPr sz="900" b="1">
              <a:solidFill>
                <a:srgbClr val="B07219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27" name="text-325"/>
          <p:cNvSpPr>
            <a:spLocks noGrp="1"/>
          </p:cNvSpPr>
          <p:nvPr/>
        </p:nvSpPr>
        <p:spPr>
          <a:xfrm>
            <a:off x="6991350" y="3333750"/>
            <a:ext cx="424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数据来源天然真实</a:t>
            </a:r>
            <a:endParaRPr sz="150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-326"/>
          <p:cNvSpPr>
            <a:spLocks noGrp="1"/>
          </p:cNvSpPr>
          <p:nvPr/>
        </p:nvSpPr>
        <p:spPr>
          <a:xfrm>
            <a:off x="6991350" y="3676650"/>
            <a:ext cx="424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125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Mock / hybrid / fallback 会单独标注。</a:t>
            </a:r>
            <a:endParaRPr sz="1125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line-327"/>
          <p:cNvSpPr>
            <a:spLocks noGrp="1"/>
          </p:cNvSpPr>
          <p:nvPr/>
        </p:nvSpPr>
        <p:spPr>
          <a:xfrm>
            <a:off x="6438900" y="4229100"/>
            <a:ext cx="4838700" cy="0"/>
          </a:xfrm>
          <a:prstGeom prst="line">
            <a:avLst/>
          </a:prstGeom>
          <a:noFill/>
          <a:ln w="9525">
            <a:solidFill>
              <a:srgbClr val="D7CFC2"/>
            </a:solidFill>
            <a:prstDash val="solid"/>
          </a:ln>
        </p:spPr>
      </p:sp>
      <p:sp>
        <p:nvSpPr>
          <p:cNvPr id="30" name="text-328"/>
          <p:cNvSpPr>
            <a:spLocks noGrp="1"/>
          </p:cNvSpPr>
          <p:nvPr/>
        </p:nvSpPr>
        <p:spPr>
          <a:xfrm>
            <a:off x="6438900" y="44196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B07219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B07219"/>
                </a:solidFill>
                <a:latin typeface="Azeret Mono"/>
                <a:ea typeface="Azeret Mono"/>
                <a:cs typeface="Azeret Mono"/>
              </a:rPr>
              <a:t>03</a:t>
            </a:r>
            <a:endParaRPr sz="900" b="1">
              <a:solidFill>
                <a:srgbClr val="B07219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31" name="text-329"/>
          <p:cNvSpPr>
            <a:spLocks noGrp="1"/>
          </p:cNvSpPr>
          <p:nvPr/>
        </p:nvSpPr>
        <p:spPr>
          <a:xfrm>
            <a:off x="6991350" y="4400550"/>
            <a:ext cx="424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已完成真实 Sepolia 部署</a:t>
            </a:r>
            <a:endParaRPr sz="150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text-330"/>
          <p:cNvSpPr>
            <a:spLocks noGrp="1"/>
          </p:cNvSpPr>
          <p:nvPr/>
        </p:nvSpPr>
        <p:spPr>
          <a:xfrm>
            <a:off x="6991350" y="4743450"/>
            <a:ext cx="424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125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交付包尚无团队确认的部署记录，默认关闭。</a:t>
            </a:r>
            <a:endParaRPr sz="1125" b="0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line-331"/>
          <p:cNvSpPr>
            <a:spLocks noGrp="1"/>
          </p:cNvSpPr>
          <p:nvPr/>
        </p:nvSpPr>
        <p:spPr>
          <a:xfrm>
            <a:off x="6438900" y="5295900"/>
            <a:ext cx="4838700" cy="0"/>
          </a:xfrm>
          <a:prstGeom prst="line">
            <a:avLst/>
          </a:prstGeom>
          <a:noFill/>
          <a:ln w="9525">
            <a:solidFill>
              <a:srgbClr val="D7CFC2"/>
            </a:solidFill>
            <a:prstDash val="solid"/>
          </a:ln>
        </p:spPr>
      </p:sp>
      <p:sp>
        <p:nvSpPr>
          <p:cNvPr id="34" name="rect-332"/>
          <p:cNvSpPr>
            <a:spLocks noGrp="1"/>
          </p:cNvSpPr>
          <p:nvPr/>
        </p:nvSpPr>
        <p:spPr>
          <a:xfrm>
            <a:off x="590550" y="5715000"/>
            <a:ext cx="10687050" cy="571500"/>
          </a:xfrm>
          <a:prstGeom prst="roundRect">
            <a:avLst>
              <a:gd name="adj" fmla="val 13333"/>
            </a:avLst>
          </a:prstGeom>
          <a:solidFill>
            <a:srgbClr val="171A18"/>
          </a:solidFill>
          <a:ln w="0">
            <a:solidFill>
              <a:srgbClr val="171A18"/>
            </a:solidFill>
            <a:prstDash val="solid"/>
          </a:ln>
        </p:spPr>
      </p:sp>
      <p:sp>
        <p:nvSpPr>
          <p:cNvPr id="35" name="text-333"/>
          <p:cNvSpPr>
            <a:spLocks noGrp="1"/>
          </p:cNvSpPr>
          <p:nvPr/>
        </p:nvSpPr>
        <p:spPr>
          <a:xfrm>
            <a:off x="838200" y="5867400"/>
            <a:ext cx="10172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诚实，本身就是可信产品的一部分</a:t>
            </a:r>
            <a:endParaRPr sz="1650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334"/>
          <p:cNvSpPr>
            <a:spLocks noGrp="1"/>
          </p:cNvSpPr>
          <p:nvPr/>
        </p:nvSpPr>
        <p:spPr>
          <a:xfrm>
            <a:off x="495300" y="381000"/>
            <a:ext cx="590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ROADMAP</a:t>
            </a:r>
            <a:endParaRPr sz="900" b="1">
              <a:solidFill>
                <a:srgbClr val="A87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text-335"/>
          <p:cNvSpPr>
            <a:spLocks noGrp="1"/>
          </p:cNvSpPr>
          <p:nvPr/>
        </p:nvSpPr>
        <p:spPr>
          <a:xfrm>
            <a:off x="495300" y="60960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0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从比赛原型走向可用基础设施</a:t>
            </a:r>
            <a:endParaRPr sz="3000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line-336"/>
          <p:cNvSpPr>
            <a:spLocks noGrp="1"/>
          </p:cNvSpPr>
          <p:nvPr/>
        </p:nvSpPr>
        <p:spPr>
          <a:xfrm>
            <a:off x="495300" y="1257300"/>
            <a:ext cx="1120140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5" name="text-337"/>
          <p:cNvSpPr>
            <a:spLocks noGrp="1"/>
          </p:cNvSpPr>
          <p:nvPr/>
        </p:nvSpPr>
        <p:spPr>
          <a:xfrm>
            <a:off x="495300" y="65151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1">
                <a:solidFill>
                  <a:srgbClr val="77807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77807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FLUXAUDIT · AI × WEB3</a:t>
            </a:r>
            <a:endParaRPr sz="825" b="1">
              <a:solidFill>
                <a:srgbClr val="77807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-338"/>
          <p:cNvSpPr>
            <a:spLocks noGrp="1"/>
          </p:cNvSpPr>
          <p:nvPr/>
        </p:nvSpPr>
        <p:spPr>
          <a:xfrm>
            <a:off x="113728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77807E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77807E"/>
                </a:solidFill>
                <a:latin typeface="Azeret Mono"/>
                <a:ea typeface="Azeret Mono"/>
                <a:cs typeface="Azeret Mono"/>
              </a:rPr>
              <a:t>13</a:t>
            </a:r>
            <a:endParaRPr sz="900" b="1">
              <a:solidFill>
                <a:srgbClr val="77807E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7" name="text-339"/>
          <p:cNvSpPr>
            <a:spLocks noGrp="1"/>
          </p:cNvSpPr>
          <p:nvPr/>
        </p:nvSpPr>
        <p:spPr>
          <a:xfrm>
            <a:off x="495300" y="1466850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现在已经拥有一条稳定、可演示、可验伪的闭环；下一步是把“证明完整性”扩展为“证明来源与生产可信”。</a:t>
            </a:r>
            <a:endParaRPr sz="1650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line-340"/>
          <p:cNvSpPr>
            <a:spLocks noGrp="1"/>
          </p:cNvSpPr>
          <p:nvPr/>
        </p:nvSpPr>
        <p:spPr>
          <a:xfrm>
            <a:off x="1009650" y="4019550"/>
            <a:ext cx="9410700" cy="0"/>
          </a:xfrm>
          <a:prstGeom prst="line">
            <a:avLst/>
          </a:prstGeom>
          <a:noFill/>
          <a:ln w="38100">
            <a:solidFill>
              <a:srgbClr val="263036"/>
            </a:solidFill>
            <a:prstDash val="solid"/>
          </a:ln>
        </p:spPr>
      </p:sp>
      <p:sp>
        <p:nvSpPr>
          <p:cNvPr id="9" name="rect-341"/>
          <p:cNvSpPr>
            <a:spLocks noGrp="1"/>
          </p:cNvSpPr>
          <p:nvPr/>
        </p:nvSpPr>
        <p:spPr>
          <a:xfrm>
            <a:off x="1600200" y="3752850"/>
            <a:ext cx="533400" cy="533400"/>
          </a:xfrm>
          <a:prstGeom prst="ellipse">
            <a:avLst/>
          </a:prstGeom>
          <a:solidFill>
            <a:srgbClr val="070A0C"/>
          </a:solidFill>
          <a:ln w="38100">
            <a:solidFill>
              <a:srgbClr val="39D77D"/>
            </a:solidFill>
            <a:prstDash val="solid"/>
          </a:ln>
        </p:spPr>
      </p:sp>
      <p:sp>
        <p:nvSpPr>
          <p:cNvPr id="10" name="text-342"/>
          <p:cNvSpPr>
            <a:spLocks noGrp="1"/>
          </p:cNvSpPr>
          <p:nvPr/>
        </p:nvSpPr>
        <p:spPr>
          <a:xfrm>
            <a:off x="1600200" y="38862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39D77D"/>
                </a:solidFill>
                <a:latin typeface="Azeret Mono"/>
                <a:ea typeface="Azeret Mono"/>
                <a:cs typeface="Azeret Mono"/>
              </a:defRPr>
            </a:pPr>
            <a:r>
              <a:rPr sz="1350" b="1">
                <a:solidFill>
                  <a:srgbClr val="39D77D"/>
                </a:solidFill>
                <a:latin typeface="Azeret Mono"/>
                <a:ea typeface="Azeret Mono"/>
                <a:cs typeface="Azeret Mono"/>
              </a:rPr>
              <a:t>1</a:t>
            </a:r>
            <a:endParaRPr sz="1350" b="1">
              <a:solidFill>
                <a:srgbClr val="39D77D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1" name="text-343"/>
          <p:cNvSpPr>
            <a:spLocks noGrp="1"/>
          </p:cNvSpPr>
          <p:nvPr/>
        </p:nvSpPr>
        <p:spPr>
          <a:xfrm>
            <a:off x="723900" y="23812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39D77D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39D77D"/>
                </a:solidFill>
                <a:latin typeface="Azeret Mono"/>
                <a:ea typeface="Azeret Mono"/>
                <a:cs typeface="Azeret Mono"/>
              </a:rPr>
              <a:t>NOW</a:t>
            </a:r>
            <a:endParaRPr sz="900" b="1">
              <a:solidFill>
                <a:srgbClr val="39D77D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2" name="text-344"/>
          <p:cNvSpPr>
            <a:spLocks noGrp="1"/>
          </p:cNvSpPr>
          <p:nvPr/>
        </p:nvSpPr>
        <p:spPr>
          <a:xfrm>
            <a:off x="723900" y="27241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8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比赛闭环</a:t>
            </a:r>
            <a:endParaRPr sz="187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345"/>
          <p:cNvSpPr>
            <a:spLocks noGrp="1"/>
          </p:cNvSpPr>
          <p:nvPr/>
        </p:nvSpPr>
        <p:spPr>
          <a:xfrm>
            <a:off x="723900" y="32194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28000"/>
              </a:lnSpc>
              <a:buNone/>
              <a:def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双样例 + Mock 兜底</a:t>
            </a:r>
            <a:endParaRPr sz="112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28000"/>
              </a:lnSpc>
              <a:buNone/>
              <a:def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七步证明 + 本地验伪</a:t>
            </a:r>
            <a:endParaRPr sz="112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ect-346"/>
          <p:cNvSpPr>
            <a:spLocks noGrp="1"/>
          </p:cNvSpPr>
          <p:nvPr/>
        </p:nvSpPr>
        <p:spPr>
          <a:xfrm>
            <a:off x="4305300" y="3752850"/>
            <a:ext cx="533400" cy="533400"/>
          </a:xfrm>
          <a:prstGeom prst="ellipse">
            <a:avLst/>
          </a:prstGeom>
          <a:solidFill>
            <a:srgbClr val="070A0C"/>
          </a:solidFill>
          <a:ln w="38100">
            <a:solidFill>
              <a:srgbClr val="A879FF"/>
            </a:solidFill>
            <a:prstDash val="solid"/>
          </a:ln>
        </p:spPr>
      </p:sp>
      <p:sp>
        <p:nvSpPr>
          <p:cNvPr id="15" name="text-347"/>
          <p:cNvSpPr>
            <a:spLocks noGrp="1"/>
          </p:cNvSpPr>
          <p:nvPr/>
        </p:nvSpPr>
        <p:spPr>
          <a:xfrm>
            <a:off x="4305300" y="38862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A879FF"/>
                </a:solidFill>
                <a:latin typeface="Azeret Mono"/>
                <a:ea typeface="Azeret Mono"/>
                <a:cs typeface="Azeret Mono"/>
              </a:defRPr>
            </a:pPr>
            <a:r>
              <a:rPr sz="1350" b="1">
                <a:solidFill>
                  <a:srgbClr val="A879FF"/>
                </a:solidFill>
                <a:latin typeface="Azeret Mono"/>
                <a:ea typeface="Azeret Mono"/>
                <a:cs typeface="Azeret Mono"/>
              </a:rPr>
              <a:t>2</a:t>
            </a:r>
            <a:endParaRPr sz="1350" b="1">
              <a:solidFill>
                <a:srgbClr val="A879FF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6" name="text-348"/>
          <p:cNvSpPr>
            <a:spLocks noGrp="1"/>
          </p:cNvSpPr>
          <p:nvPr/>
        </p:nvSpPr>
        <p:spPr>
          <a:xfrm>
            <a:off x="3429000" y="23812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A879FF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A879FF"/>
                </a:solidFill>
                <a:latin typeface="Azeret Mono"/>
                <a:ea typeface="Azeret Mono"/>
                <a:cs typeface="Azeret Mono"/>
              </a:rPr>
              <a:t>NEXT</a:t>
            </a:r>
            <a:endParaRPr sz="900" b="1">
              <a:solidFill>
                <a:srgbClr val="A879FF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7" name="text-349"/>
          <p:cNvSpPr>
            <a:spLocks noGrp="1"/>
          </p:cNvSpPr>
          <p:nvPr/>
        </p:nvSpPr>
        <p:spPr>
          <a:xfrm>
            <a:off x="3429000" y="27241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8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可信部署</a:t>
            </a:r>
            <a:endParaRPr sz="187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-350"/>
          <p:cNvSpPr>
            <a:spLocks noGrp="1"/>
          </p:cNvSpPr>
          <p:nvPr/>
        </p:nvSpPr>
        <p:spPr>
          <a:xfrm>
            <a:off x="3429000" y="32194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28000"/>
              </a:lnSpc>
              <a:buNone/>
              <a:def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团队确认 Sepolia 合约</a:t>
            </a:r>
            <a:endParaRPr sz="112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28000"/>
              </a:lnSpc>
              <a:buNone/>
              <a:def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RPC / auditor / read-back</a:t>
            </a:r>
            <a:endParaRPr sz="112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ect-351"/>
          <p:cNvSpPr>
            <a:spLocks noGrp="1"/>
          </p:cNvSpPr>
          <p:nvPr/>
        </p:nvSpPr>
        <p:spPr>
          <a:xfrm>
            <a:off x="7010400" y="3752850"/>
            <a:ext cx="533400" cy="533400"/>
          </a:xfrm>
          <a:prstGeom prst="ellipse">
            <a:avLst/>
          </a:prstGeom>
          <a:solidFill>
            <a:srgbClr val="070A0C"/>
          </a:solidFill>
          <a:ln w="38100">
            <a:solidFill>
              <a:srgbClr val="72CFFF"/>
            </a:solidFill>
            <a:prstDash val="solid"/>
          </a:ln>
        </p:spPr>
      </p:sp>
      <p:sp>
        <p:nvSpPr>
          <p:cNvPr id="20" name="text-352"/>
          <p:cNvSpPr>
            <a:spLocks noGrp="1"/>
          </p:cNvSpPr>
          <p:nvPr/>
        </p:nvSpPr>
        <p:spPr>
          <a:xfrm>
            <a:off x="7010400" y="38862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72CFFF"/>
                </a:solidFill>
                <a:latin typeface="Azeret Mono"/>
                <a:ea typeface="Azeret Mono"/>
                <a:cs typeface="Azeret Mono"/>
              </a:defRPr>
            </a:pPr>
            <a:r>
              <a:rPr sz="1350" b="1">
                <a:solidFill>
                  <a:srgbClr val="72CFFF"/>
                </a:solidFill>
                <a:latin typeface="Azeret Mono"/>
                <a:ea typeface="Azeret Mono"/>
                <a:cs typeface="Azeret Mono"/>
              </a:rPr>
              <a:t>3</a:t>
            </a:r>
            <a:endParaRPr sz="1350" b="1">
              <a:solidFill>
                <a:srgbClr val="72CFFF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21" name="text-353"/>
          <p:cNvSpPr>
            <a:spLocks noGrp="1"/>
          </p:cNvSpPr>
          <p:nvPr/>
        </p:nvSpPr>
        <p:spPr>
          <a:xfrm>
            <a:off x="6134100" y="23812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72CFFF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72CFFF"/>
                </a:solidFill>
                <a:latin typeface="Azeret Mono"/>
                <a:ea typeface="Azeret Mono"/>
                <a:cs typeface="Azeret Mono"/>
              </a:rPr>
              <a:t>THEN</a:t>
            </a:r>
            <a:endParaRPr sz="900" b="1">
              <a:solidFill>
                <a:srgbClr val="72CFFF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22" name="text-354"/>
          <p:cNvSpPr>
            <a:spLocks noGrp="1"/>
          </p:cNvSpPr>
          <p:nvPr/>
        </p:nvSpPr>
        <p:spPr>
          <a:xfrm>
            <a:off x="6134100" y="27241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8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来源绑定</a:t>
            </a:r>
            <a:endParaRPr sz="187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-355"/>
          <p:cNvSpPr>
            <a:spLocks noGrp="1"/>
          </p:cNvSpPr>
          <p:nvPr/>
        </p:nvSpPr>
        <p:spPr>
          <a:xfrm>
            <a:off x="6134100" y="32194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28000"/>
              </a:lnSpc>
              <a:buNone/>
              <a:def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白皮书文件摘要入链路</a:t>
            </a:r>
            <a:endParaRPr sz="112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28000"/>
              </a:lnSpc>
              <a:buNone/>
              <a:def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真实索引数据与可追溯来源</a:t>
            </a:r>
            <a:endParaRPr sz="112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rect-356"/>
          <p:cNvSpPr>
            <a:spLocks noGrp="1"/>
          </p:cNvSpPr>
          <p:nvPr/>
        </p:nvSpPr>
        <p:spPr>
          <a:xfrm>
            <a:off x="9715500" y="3752850"/>
            <a:ext cx="533400" cy="533400"/>
          </a:xfrm>
          <a:prstGeom prst="ellipse">
            <a:avLst/>
          </a:prstGeom>
          <a:solidFill>
            <a:srgbClr val="070A0C"/>
          </a:solidFill>
          <a:ln w="38100">
            <a:solidFill>
              <a:srgbClr val="F2BC4D"/>
            </a:solidFill>
            <a:prstDash val="solid"/>
          </a:ln>
        </p:spPr>
      </p:sp>
      <p:sp>
        <p:nvSpPr>
          <p:cNvPr id="25" name="text-357"/>
          <p:cNvSpPr>
            <a:spLocks noGrp="1"/>
          </p:cNvSpPr>
          <p:nvPr/>
        </p:nvSpPr>
        <p:spPr>
          <a:xfrm>
            <a:off x="9715500" y="38862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F2BC4D"/>
                </a:solidFill>
                <a:latin typeface="Azeret Mono"/>
                <a:ea typeface="Azeret Mono"/>
                <a:cs typeface="Azeret Mono"/>
              </a:defRPr>
            </a:pPr>
            <a:r>
              <a:rPr sz="1350" b="1">
                <a:solidFill>
                  <a:srgbClr val="F2BC4D"/>
                </a:solidFill>
                <a:latin typeface="Azeret Mono"/>
                <a:ea typeface="Azeret Mono"/>
                <a:cs typeface="Azeret Mono"/>
              </a:rPr>
              <a:t>4</a:t>
            </a:r>
            <a:endParaRPr sz="1350" b="1">
              <a:solidFill>
                <a:srgbClr val="F2BC4D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26" name="text-358"/>
          <p:cNvSpPr>
            <a:spLocks noGrp="1"/>
          </p:cNvSpPr>
          <p:nvPr/>
        </p:nvSpPr>
        <p:spPr>
          <a:xfrm>
            <a:off x="8839200" y="23812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F2BC4D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F2BC4D"/>
                </a:solidFill>
                <a:latin typeface="Azeret Mono"/>
                <a:ea typeface="Azeret Mono"/>
                <a:cs typeface="Azeret Mono"/>
              </a:rPr>
              <a:t>SCALE</a:t>
            </a:r>
            <a:endParaRPr sz="900" b="1">
              <a:solidFill>
                <a:srgbClr val="F2BC4D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27" name="text-359"/>
          <p:cNvSpPr>
            <a:spLocks noGrp="1"/>
          </p:cNvSpPr>
          <p:nvPr/>
        </p:nvSpPr>
        <p:spPr>
          <a:xfrm>
            <a:off x="8839200" y="27241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8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协议扩展</a:t>
            </a:r>
            <a:endParaRPr sz="187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-360"/>
          <p:cNvSpPr>
            <a:spLocks noGrp="1"/>
          </p:cNvSpPr>
          <p:nvPr/>
        </p:nvSpPr>
        <p:spPr>
          <a:xfrm>
            <a:off x="8839200" y="32194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28000"/>
              </a:lnSpc>
              <a:buNone/>
              <a:def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多链适配、审计插件</a:t>
            </a:r>
            <a:endParaRPr sz="112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28000"/>
              </a:lnSpc>
              <a:buNone/>
              <a:def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AEB7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机构级策略与协作</a:t>
            </a:r>
            <a:endParaRPr sz="1125" b="0">
              <a:solidFill>
                <a:srgbClr val="AEB7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rect-361"/>
          <p:cNvSpPr>
            <a:spLocks noGrp="1"/>
          </p:cNvSpPr>
          <p:nvPr/>
        </p:nvSpPr>
        <p:spPr>
          <a:xfrm>
            <a:off x="723900" y="4857750"/>
            <a:ext cx="10401300" cy="1066800"/>
          </a:xfrm>
          <a:prstGeom prst="roundRect">
            <a:avLst>
              <a:gd name="adj" fmla="val 8929"/>
            </a:avLst>
          </a:prstGeom>
          <a:solidFill>
            <a:srgbClr val="131A1F"/>
          </a:solidFill>
          <a:ln w="9525">
            <a:solidFill>
              <a:srgbClr val="263036"/>
            </a:solidFill>
            <a:prstDash val="solid"/>
          </a:ln>
        </p:spPr>
      </p:sp>
      <p:sp>
        <p:nvSpPr>
          <p:cNvPr id="30" name="text-362"/>
          <p:cNvSpPr>
            <a:spLocks noGrp="1"/>
          </p:cNvSpPr>
          <p:nvPr/>
        </p:nvSpPr>
        <p:spPr>
          <a:xfrm>
            <a:off x="933450" y="50673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A87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可扩展的核心资产</a:t>
            </a:r>
            <a:endParaRPr sz="1350" b="1">
              <a:solidFill>
                <a:srgbClr val="A87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text-363"/>
          <p:cNvSpPr>
            <a:spLocks noGrp="1"/>
          </p:cNvSpPr>
          <p:nvPr/>
        </p:nvSpPr>
        <p:spPr>
          <a:xfrm>
            <a:off x="933450" y="5467350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5F6F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统一报告 schema + 跨端 canonical JSON + 七步证明协议 + 严格验伪 SDK</a:t>
            </a:r>
            <a:endParaRPr sz="1725" b="1">
              <a:solidFill>
                <a:srgbClr val="F5F6F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-364"/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E3FC8"/>
          </a:solidFill>
          <a:ln w="0">
            <a:solidFill>
              <a:srgbClr val="6E3FC8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514350"/>
            <a:ext cx="2114550" cy="571500"/>
          </a:xfrm>
          <a:prstGeom prst="rect">
            <a:avLst/>
          </a:prstGeom>
        </p:spPr>
      </p:pic>
      <p:sp>
        <p:nvSpPr>
          <p:cNvPr id="3" name="rect-365"/>
          <p:cNvSpPr>
            <a:spLocks noGrp="1"/>
          </p:cNvSpPr>
          <p:nvPr/>
        </p:nvSpPr>
        <p:spPr>
          <a:xfrm>
            <a:off x="666750" y="1543050"/>
            <a:ext cx="1695450" cy="266700"/>
          </a:xfrm>
          <a:prstGeom prst="roundRect">
            <a:avLst>
              <a:gd name="adj" fmla="val 50000"/>
            </a:avLst>
          </a:prstGeom>
          <a:solidFill>
            <a:srgbClr val="EDE5F8"/>
          </a:solidFill>
          <a:ln w="9525">
            <a:solidFill>
              <a:srgbClr val="C9B6E8"/>
            </a:solidFill>
            <a:prstDash val="solid"/>
          </a:ln>
        </p:spPr>
        <p:txBody>
          <a:bodyPr lIns="76200" tIns="19050" rIns="76200" bIns="19050" anchor="ctr">
            <a:normAutofit/>
          </a:bodyPr>
          <a:lstStyle/>
          <a:p>
            <a:pPr algn="ctr">
              <a:defRPr sz="90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VERIFIABLE AI AUDIT</a:t>
            </a:r>
            <a:endParaRPr sz="90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366"/>
          <p:cNvSpPr>
            <a:spLocks noGrp="1"/>
          </p:cNvSpPr>
          <p:nvPr/>
        </p:nvSpPr>
        <p:spPr>
          <a:xfrm>
            <a:off x="666750" y="2190750"/>
            <a:ext cx="78105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43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3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让每一次 AI 审计，</a:t>
            </a:r>
            <a:endParaRPr sz="435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98000"/>
              </a:lnSpc>
              <a:buNone/>
              <a:defRPr sz="43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3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都留下可复核的证据。</a:t>
            </a:r>
            <a:endParaRPr sz="435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-367"/>
          <p:cNvSpPr>
            <a:spLocks noGrp="1"/>
          </p:cNvSpPr>
          <p:nvPr/>
        </p:nvSpPr>
        <p:spPr>
          <a:xfrm>
            <a:off x="685800" y="40195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6E3FC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FluxAudit / 流审</a:t>
            </a:r>
            <a:endParaRPr sz="1950" b="1">
              <a:solidFill>
                <a:srgbClr val="6E3FC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-368"/>
          <p:cNvSpPr>
            <a:spLocks noGrp="1"/>
          </p:cNvSpPr>
          <p:nvPr/>
        </p:nvSpPr>
        <p:spPr>
          <a:xfrm>
            <a:off x="685800" y="45148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5C61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白皮书 × 链上事实 × AI Agent × 密码学证明</a:t>
            </a:r>
            <a:endParaRPr sz="1500" b="1">
              <a:solidFill>
                <a:srgbClr val="5C61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rect-369"/>
          <p:cNvSpPr>
            <a:spLocks noGrp="1"/>
          </p:cNvSpPr>
          <p:nvPr/>
        </p:nvSpPr>
        <p:spPr>
          <a:xfrm>
            <a:off x="8610600" y="1657350"/>
            <a:ext cx="2476500" cy="3314700"/>
          </a:xfrm>
          <a:prstGeom prst="roundRect">
            <a:avLst>
              <a:gd name="adj" fmla="val 5385"/>
            </a:avLst>
          </a:prstGeom>
          <a:solidFill>
            <a:srgbClr val="171A18"/>
          </a:solidFill>
          <a:ln w="0">
            <a:solidFill>
              <a:srgbClr val="171A18"/>
            </a:solidFill>
            <a:prstDash val="solid"/>
          </a:ln>
        </p:spPr>
      </p:sp>
      <p:sp>
        <p:nvSpPr>
          <p:cNvPr id="8" name="text-370"/>
          <p:cNvSpPr>
            <a:spLocks noGrp="1"/>
          </p:cNvSpPr>
          <p:nvPr/>
        </p:nvSpPr>
        <p:spPr>
          <a:xfrm>
            <a:off x="8877300" y="1943100"/>
            <a:ext cx="1943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39D77D"/>
                </a:solidFill>
                <a:latin typeface="Azeret Mono"/>
                <a:ea typeface="Azeret Mono"/>
                <a:cs typeface="Azeret Mono"/>
              </a:defRPr>
            </a:pPr>
            <a:r>
              <a:rPr sz="900" b="1">
                <a:solidFill>
                  <a:srgbClr val="39D77D"/>
                </a:solidFill>
                <a:latin typeface="Azeret Mono"/>
                <a:ea typeface="Azeret Mono"/>
                <a:cs typeface="Azeret Mono"/>
              </a:rPr>
              <a:t>DEMO READY</a:t>
            </a:r>
            <a:endParaRPr sz="900" b="1">
              <a:solidFill>
                <a:srgbClr val="39D77D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9" name="text-371"/>
          <p:cNvSpPr>
            <a:spLocks noGrp="1"/>
          </p:cNvSpPr>
          <p:nvPr/>
        </p:nvSpPr>
        <p:spPr>
          <a:xfrm>
            <a:off x="8877300" y="2457450"/>
            <a:ext cx="1943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4350" b="1">
                <a:solidFill>
                  <a:srgbClr val="F5F6F2"/>
                </a:solidFill>
                <a:latin typeface="Azeret Mono"/>
                <a:ea typeface="Azeret Mono"/>
                <a:cs typeface="Azeret Mono"/>
              </a:defRPr>
            </a:pPr>
            <a:r>
              <a:rPr sz="4350" b="1">
                <a:solidFill>
                  <a:srgbClr val="F5F6F2"/>
                </a:solidFill>
                <a:latin typeface="Azeret Mono"/>
                <a:ea typeface="Azeret Mono"/>
                <a:cs typeface="Azeret Mono"/>
              </a:rPr>
              <a:t>2 min</a:t>
            </a:r>
            <a:endParaRPr sz="4350" b="1">
              <a:solidFill>
                <a:srgbClr val="F5F6F2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0" name="line-372"/>
          <p:cNvSpPr>
            <a:spLocks noGrp="1"/>
          </p:cNvSpPr>
          <p:nvPr/>
        </p:nvSpPr>
        <p:spPr>
          <a:xfrm>
            <a:off x="8915400" y="3371850"/>
            <a:ext cx="1866900" cy="0"/>
          </a:xfrm>
          <a:prstGeom prst="line">
            <a:avLst/>
          </a:prstGeom>
          <a:noFill/>
          <a:ln w="9525">
            <a:solidFill>
              <a:srgbClr val="263036"/>
            </a:solidFill>
            <a:prstDash val="solid"/>
          </a:ln>
        </p:spPr>
      </p:sp>
      <p:sp>
        <p:nvSpPr>
          <p:cNvPr id="11" name="text-373"/>
          <p:cNvSpPr>
            <a:spLocks noGrp="1"/>
          </p:cNvSpPr>
          <p:nvPr/>
        </p:nvSpPr>
        <p:spPr>
          <a:xfrm>
            <a:off x="8877300" y="3638550"/>
            <a:ext cx="19431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16"/>
          </a:bodyPr>
          <a:lstStyle/>
          <a:p>
            <a:pPr algn="ctr">
              <a:lnSpc>
                <a:spcPct val="128000"/>
              </a:lnSpc>
              <a:buNone/>
              <a:defRPr sz="1425" b="1">
                <a:solidFill>
                  <a:srgbClr val="AEB7B5"/>
                </a:solidFill>
                <a:latin typeface="Azeret Mono"/>
                <a:ea typeface="Azeret Mono"/>
                <a:cs typeface="Azeret Mono"/>
              </a:defRPr>
            </a:pPr>
            <a:r>
              <a:rPr sz="1425" b="1">
                <a:solidFill>
                  <a:srgbClr val="AEB7B5"/>
                </a:solidFill>
                <a:latin typeface="Azeret Mono"/>
                <a:ea typeface="Azeret Mono"/>
                <a:cs typeface="Azeret Mono"/>
              </a:rPr>
              <a:t>CREATE</a:t>
            </a:r>
            <a:endParaRPr sz="1425" b="1">
              <a:solidFill>
                <a:srgbClr val="AEB7B5"/>
              </a:solidFill>
              <a:latin typeface="Azeret Mono"/>
              <a:ea typeface="Azeret Mono"/>
              <a:cs typeface="Azeret Mono"/>
            </a:endParaRPr>
          </a:p>
          <a:p>
            <a:pPr algn="ctr">
              <a:lnSpc>
                <a:spcPct val="128000"/>
              </a:lnSpc>
              <a:buNone/>
              <a:defRPr sz="1425" b="1">
                <a:solidFill>
                  <a:srgbClr val="AEB7B5"/>
                </a:solidFill>
                <a:latin typeface="Azeret Mono"/>
                <a:ea typeface="Azeret Mono"/>
                <a:cs typeface="Azeret Mono"/>
              </a:defRPr>
            </a:pPr>
            <a:r>
              <a:rPr sz="1425" b="1">
                <a:solidFill>
                  <a:srgbClr val="AEB7B5"/>
                </a:solidFill>
                <a:latin typeface="Azeret Mono"/>
                <a:ea typeface="Azeret Mono"/>
                <a:cs typeface="Azeret Mono"/>
              </a:rPr>
              <a:t>EXECUTE</a:t>
            </a:r>
            <a:endParaRPr sz="1425" b="1">
              <a:solidFill>
                <a:srgbClr val="AEB7B5"/>
              </a:solidFill>
              <a:latin typeface="Azeret Mono"/>
              <a:ea typeface="Azeret Mono"/>
              <a:cs typeface="Azeret Mono"/>
            </a:endParaRPr>
          </a:p>
          <a:p>
            <a:pPr algn="ctr">
              <a:lnSpc>
                <a:spcPct val="128000"/>
              </a:lnSpc>
              <a:buNone/>
              <a:defRPr sz="1425" b="1">
                <a:solidFill>
                  <a:srgbClr val="AEB7B5"/>
                </a:solidFill>
                <a:latin typeface="Azeret Mono"/>
                <a:ea typeface="Azeret Mono"/>
                <a:cs typeface="Azeret Mono"/>
              </a:defRPr>
            </a:pPr>
            <a:r>
              <a:rPr sz="1425" b="1">
                <a:solidFill>
                  <a:srgbClr val="AEB7B5"/>
                </a:solidFill>
                <a:latin typeface="Azeret Mono"/>
                <a:ea typeface="Azeret Mono"/>
                <a:cs typeface="Azeret Mono"/>
              </a:rPr>
              <a:t>REPORT</a:t>
            </a:r>
            <a:endParaRPr sz="1425" b="1">
              <a:solidFill>
                <a:srgbClr val="AEB7B5"/>
              </a:solidFill>
              <a:latin typeface="Azeret Mono"/>
              <a:ea typeface="Azeret Mono"/>
              <a:cs typeface="Azeret Mono"/>
            </a:endParaRPr>
          </a:p>
          <a:p>
            <a:pPr algn="ctr">
              <a:lnSpc>
                <a:spcPct val="128000"/>
              </a:lnSpc>
              <a:buNone/>
              <a:defRPr sz="1425" b="1">
                <a:solidFill>
                  <a:srgbClr val="AEB7B5"/>
                </a:solidFill>
                <a:latin typeface="Azeret Mono"/>
                <a:ea typeface="Azeret Mono"/>
                <a:cs typeface="Azeret Mono"/>
              </a:defRPr>
            </a:pPr>
            <a:r>
              <a:rPr sz="1425" b="1">
                <a:solidFill>
                  <a:srgbClr val="AEB7B5"/>
                </a:solidFill>
                <a:latin typeface="Azeret Mono"/>
                <a:ea typeface="Azeret Mono"/>
                <a:cs typeface="Azeret Mono"/>
              </a:rPr>
              <a:t>VERIFY</a:t>
            </a:r>
            <a:endParaRPr sz="1425" b="1">
              <a:solidFill>
                <a:srgbClr val="AEB7B5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2" name="line-374"/>
          <p:cNvSpPr>
            <a:spLocks noGrp="1"/>
          </p:cNvSpPr>
          <p:nvPr/>
        </p:nvSpPr>
        <p:spPr>
          <a:xfrm>
            <a:off x="666750" y="5562600"/>
            <a:ext cx="10420350" cy="0"/>
          </a:xfrm>
          <a:prstGeom prst="line">
            <a:avLst/>
          </a:prstGeom>
          <a:noFill/>
          <a:ln w="9525">
            <a:solidFill>
              <a:srgbClr val="CFC7BA"/>
            </a:solidFill>
            <a:prstDash val="solid"/>
          </a:ln>
        </p:spPr>
      </p:sp>
      <p:sp>
        <p:nvSpPr>
          <p:cNvPr id="13" name="text-375"/>
          <p:cNvSpPr>
            <a:spLocks noGrp="1"/>
          </p:cNvSpPr>
          <p:nvPr/>
        </p:nvSpPr>
        <p:spPr>
          <a:xfrm>
            <a:off x="666750" y="58293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5C615E"/>
                </a:solidFill>
                <a:latin typeface="Azeret Mono"/>
                <a:ea typeface="Azeret Mono"/>
                <a:cs typeface="Azeret Mono"/>
              </a:defRPr>
            </a:pPr>
            <a:r>
              <a:rPr sz="975" b="1">
                <a:solidFill>
                  <a:srgbClr val="5C615E"/>
                </a:solidFill>
                <a:latin typeface="Azeret Mono"/>
                <a:ea typeface="Azeret Mono"/>
                <a:cs typeface="Azeret Mono"/>
              </a:rPr>
              <a:t>THANK YOU</a:t>
            </a:r>
            <a:endParaRPr sz="975" b="1">
              <a:solidFill>
                <a:srgbClr val="5C615E"/>
              </a:solidFill>
              <a:latin typeface="Azeret Mono"/>
              <a:ea typeface="Azeret Mono"/>
              <a:cs typeface="Azeret Mono"/>
            </a:endParaRPr>
          </a:p>
        </p:txBody>
      </p:sp>
      <p:sp>
        <p:nvSpPr>
          <p:cNvPr id="14" name="text-376"/>
          <p:cNvSpPr>
            <a:spLocks noGrp="1"/>
          </p:cNvSpPr>
          <p:nvPr/>
        </p:nvSpPr>
        <p:spPr>
          <a:xfrm>
            <a:off x="9525000" y="5753100"/>
            <a:ext cx="1562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  <a:defRPr sz="16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71A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Questions?</a:t>
            </a:r>
            <a:endParaRPr sz="1650" b="1">
              <a:solidFill>
                <a:srgbClr val="171A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3526</Words>
  <Application>WPS 文字</Application>
  <PresentationFormat>Converted Presentation</PresentationFormat>
  <Paragraphs>585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宋体</vt:lpstr>
      <vt:lpstr>Wingdings</vt:lpstr>
      <vt:lpstr>PingFang SC</vt:lpstr>
      <vt:lpstr>Azeret Mono</vt:lpstr>
      <vt:lpstr>Thonburi</vt:lpstr>
      <vt:lpstr>微软雅黑</vt:lpstr>
      <vt:lpstr>方正雅意黑 GB18030L2</vt:lpstr>
      <vt:lpstr>宋体</vt:lpstr>
      <vt:lpstr>Arial Unicode MS</vt:lpstr>
      <vt:lpstr>汉仪书宋二KW</vt:lpstr>
      <vt:lpstr>Calibri</vt:lpstr>
      <vt:lpstr>Helvetica Neue</vt:lpstr>
      <vt:lpstr>Azeret Mono</vt:lpstr>
      <vt:lpstr>苹方-简</vt:lpstr>
      <vt:lpstr>宋体-简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YiVermouth</cp:lastModifiedBy>
  <cp:revision>2</cp:revision>
  <dcterms:created xsi:type="dcterms:W3CDTF">2026-09-05T09:45:19Z</dcterms:created>
  <dcterms:modified xsi:type="dcterms:W3CDTF">2026-09-05T09:45:19Z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79F2F6360CF5766B5BE49B6AB32B274E_42</vt:lpwstr>
  </property>
</Properties>
</file>